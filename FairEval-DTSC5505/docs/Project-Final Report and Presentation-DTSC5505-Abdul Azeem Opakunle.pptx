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
[Sources]
- Project code package and final report prepared for DTSC 5505.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Conceptual framing from the FairEval final report; fairness definitions summarized from standard fairness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Packaged datasets included with the Milestone 6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source tree in the submission zip.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Metric definitions summarized from the final report and standard fairness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 generated from outputs/results.csv in the final submission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Figures generated from outputs/results.csv in the final submission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 generated from outputs/agreement_kendall_tau.csv and outputs/agreement_krippendorff_alpha.txt.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 6 assignment requirements and the prepared submission package contents.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Limitations summarized from the final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Final report conclusion and packaged benchmark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Fairness Benchmarks Agree?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0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Cross-Metric Analysis Framework for ML and LLM Bias Auditing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2240280"/>
            <a:ext cx="6702552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2514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 Azeem Opakunle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DTSC 5505 • Milestone 6 • Benchmarking / Evaluation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0" y="3337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</a:rPr>
              <a:t>Final project presentation and reproducible submission package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4069080"/>
            <a:ext cx="8503920" cy="1234440"/>
          </a:xfrm>
          <a:prstGeom prst="roundRect">
            <a:avLst>
              <a:gd name="adj" fmla="val 4444"/>
            </a:avLst>
          </a:prstGeom>
          <a:solidFill>
            <a:srgbClr val="EAF0F8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440740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50"/>
                </a:solidFill>
              </a:rPr>
              <a:t>Thesis: </a:t>
            </a:r>
            <a:pPr algn="ctr" indent="0" marL="0">
              <a:buNone/>
            </a:pPr>
            <a:r>
              <a:rPr lang="en-US" sz="2000" dirty="0">
                <a:solidFill>
                  <a:srgbClr val="263238"/>
                </a:solidFill>
              </a:rPr>
              <a:t>fairness metrics are not interchangeable; disagreement among them is itself a key audit finding.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Fairness auditing is now common, but fairness is not one number.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93776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Organizations are increasingly asked to document bias and fairness in deployed models.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metrics encode different notions of harm: outcome parity, error parity, or meaning of positive predictions.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can look acceptable on one metric and problematic on another.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FairEval asks a practical question: do our fairness benchmarks agree strongly enough to support simple conclusions?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120640" cy="4160520"/>
          </a:xfrm>
          <a:prstGeom prst="roundRect">
            <a:avLst>
              <a:gd name="adj" fmla="val 1319"/>
            </a:avLst>
          </a:prstGeom>
          <a:solidFill>
            <a:srgbClr val="F8FBFE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0"/>
                </a:solidFill>
              </a:rPr>
              <a:t>Audit perspective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20840" y="2286000"/>
            <a:ext cx="38862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8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9712" y="239572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13E"/>
                </a:solidFill>
              </a:rPr>
              <a:t>Compute several fairness metrics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3108960"/>
            <a:ext cx="3886200" cy="502920"/>
          </a:xfrm>
          <a:prstGeom prst="roundRect">
            <a:avLst>
              <a:gd name="adj" fmla="val 7273"/>
            </a:avLst>
          </a:prstGeom>
          <a:solidFill>
            <a:srgbClr val="EDF3FA"/>
          </a:solidFill>
          <a:ln w="12700">
            <a:solidFill>
              <a:srgbClr val="B8C8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321868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13E"/>
                </a:solidFill>
              </a:rPr>
              <a:t>Compare model rankings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20840" y="3931920"/>
            <a:ext cx="38862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8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404164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13E"/>
                </a:solidFill>
              </a:rPr>
              <a:t>Measure agreement explicitly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4754880"/>
            <a:ext cx="3886200" cy="502920"/>
          </a:xfrm>
          <a:prstGeom prst="roundRect">
            <a:avLst>
              <a:gd name="adj" fmla="val 7273"/>
            </a:avLst>
          </a:prstGeom>
          <a:solidFill>
            <a:srgbClr val="EDF3FA"/>
          </a:solidFill>
          <a:ln w="12700">
            <a:solidFill>
              <a:srgbClr val="B8C8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48646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13E"/>
                </a:solidFill>
              </a:rPr>
              <a:t>Report uncertainty honestly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 and benchmark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validated tabular benchmarks, plus two packaged LLM benchmark datasets for extension.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pic>
        <p:nvPicPr>
          <p:cNvPr id="5" name="Image 0" descr="/mnt/data/final_package/result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72113"/>
            <a:ext cx="7223760" cy="15363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1417320"/>
            <a:ext cx="338328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Adult: income prediction benchmark; sensitive attribute in code = sex.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COMPAS: recidivism benchmark; sensitive attribute in code = race.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 Credit: credit-risk benchmark; sensitive attribute derived from personal status.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CrowS-Pairs and BBQ are included in the package for optional LLM benchmarking.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138160" y="4892040"/>
            <a:ext cx="3246120" cy="777240"/>
          </a:xfrm>
          <a:prstGeom prst="roundRect">
            <a:avLst>
              <a:gd name="adj" fmla="val 4706"/>
            </a:avLst>
          </a:prstGeom>
          <a:solidFill>
            <a:srgbClr val="EAF0F8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5320" y="5074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50"/>
                </a:solidFill>
              </a:rPr>
              <a:t>Validated empirical claims in the final report use the tabular branch.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design and execution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benchmark is modular, scriptable, and designed for reproducibility.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2450592"/>
            <a:ext cx="384048" cy="219456"/>
          </a:xfrm>
          <a:prstGeom prst="chevron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27448" y="2450592"/>
            <a:ext cx="347472" cy="219456"/>
          </a:xfrm>
          <a:prstGeom prst="chevron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2450592"/>
            <a:ext cx="292608" cy="219456"/>
          </a:xfrm>
          <a:prstGeom prst="chevron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00032" y="2450592"/>
            <a:ext cx="292608" cy="219456"/>
          </a:xfrm>
          <a:prstGeom prst="chevron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240280"/>
            <a:ext cx="1600200" cy="731520"/>
          </a:xfrm>
          <a:prstGeom prst="roundRect">
            <a:avLst>
              <a:gd name="adj" fmla="val 6250"/>
            </a:avLst>
          </a:prstGeom>
          <a:solidFill>
            <a:srgbClr val="EDF3FA"/>
          </a:solidFill>
          <a:ln w="12700">
            <a:solidFill>
              <a:srgbClr val="B9C9DB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41401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Load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datasets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80360" y="2240280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9C9DB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241401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Preprocess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features + groups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66360" y="2240280"/>
            <a:ext cx="1737360" cy="731520"/>
          </a:xfrm>
          <a:prstGeom prst="roundRect">
            <a:avLst>
              <a:gd name="adj" fmla="val 6250"/>
            </a:avLst>
          </a:prstGeom>
          <a:solidFill>
            <a:srgbClr val="EDF3FA"/>
          </a:solidFill>
          <a:ln w="12700">
            <a:solidFill>
              <a:srgbClr val="B9C9DB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241401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Train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models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06640" y="2240280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9C9DB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24140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Compute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metrics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784080" y="224028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EDF3FA"/>
          </a:solidFill>
          <a:ln w="12700">
            <a:solidFill>
              <a:srgbClr val="B9C9DB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29800" y="24140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Save outputs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+ figures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Main modules: data_loader.py, preprocessing.py, models.py, fairness_metrics.py, experiments.py, agreement.py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3000" y="4343400"/>
            <a:ext cx="9875520" cy="1005840"/>
          </a:xfrm>
          <a:prstGeom prst="roundRect">
            <a:avLst>
              <a:gd name="adj" fmla="val 4545"/>
            </a:avLst>
          </a:prstGeom>
          <a:solidFill>
            <a:srgbClr val="F8FBFE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6177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0"/>
                </a:solidFill>
              </a:rPr>
              <a:t>Reproducibility features: </a:t>
            </a:r>
            <a:pPr algn="ctr"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packaged CSV datasets, saved outputs, script-generated figures, dependency files, README instructions, and separate scripts for presentation and code-demo recordings.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used in the final benchmark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fairness metrics plus two agreement statistics.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440680" cy="4434840"/>
          </a:xfrm>
          <a:prstGeom prst="roundRect">
            <a:avLst>
              <a:gd name="adj" fmla="val 1031"/>
            </a:avLst>
          </a:prstGeom>
          <a:solidFill>
            <a:srgbClr val="FBFCFE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50"/>
                </a:solidFill>
              </a:rPr>
              <a:t>Fairness metrics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493776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 parity difference: disparity in positive prediction rates across groups.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Equalized odds difference: disparity in error behavior, combining TPR and FPR gaps.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parity difference: disparity in positive predictive value across groups.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1371600"/>
            <a:ext cx="4983480" cy="4434840"/>
          </a:xfrm>
          <a:prstGeom prst="roundRect">
            <a:avLst>
              <a:gd name="adj" fmla="val 1031"/>
            </a:avLst>
          </a:prstGeom>
          <a:solidFill>
            <a:srgbClr val="FBFCFE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50"/>
                </a:solidFill>
              </a:rPr>
              <a:t>Agreement analysis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1965960"/>
            <a:ext cx="45262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Kendall's tau: do two metrics rank the models in the same order?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Krippendorff's alpha: do the fairness metrics show overall consensus as model “raters”?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thesis: disagreement among metrics is itself a meaningful audit output.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03120" y="5989320"/>
            <a:ext cx="8001000" cy="384048"/>
          </a:xfrm>
          <a:prstGeom prst="roundRect">
            <a:avLst>
              <a:gd name="adj" fmla="val 11905"/>
            </a:avLst>
          </a:prstGeom>
          <a:solidFill>
            <a:srgbClr val="EAF0F8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6108192"/>
            <a:ext cx="7635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3250"/>
                </a:solidFill>
              </a:rPr>
              <a:t>Lower disparity values are better, but the metrics still represent different normative commitments.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performance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varies much more by dataset than by model.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pic>
        <p:nvPicPr>
          <p:cNvPr id="5" name="Image 0" descr="/mnt/data/work/fair/FairEval_FINAL/figures/fig1_accuracy_by_model_data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621792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120" y="1554480"/>
            <a:ext cx="356616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Adult: both models around 0.856 accuracy.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COMPAS: both models above 0.97 accuracy.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 Credit: lower overall performance, with random forest higher than logistic regression.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dataset difficulty dominates small differences between the two baseline models.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Fairness results are dataset-dependent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Single-metric summaries hide important differences across datasets.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pic>
        <p:nvPicPr>
          <p:cNvPr id="5" name="Image 0" descr="/mnt/data/work/fair/FairEval_FINAL/figures/fig2_demographic_p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620" y="1371600"/>
            <a:ext cx="2987040" cy="2240280"/>
          </a:xfrm>
          <a:prstGeom prst="rect">
            <a:avLst/>
          </a:prstGeom>
        </p:spPr>
      </p:pic>
      <p:pic>
        <p:nvPicPr>
          <p:cNvPr id="6" name="Image 1" descr="/mnt/data/work/fair/FairEval_FINAL/figures/fig3_eo_vs_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20" y="3749040"/>
            <a:ext cx="2987040" cy="2240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0" y="1554480"/>
            <a:ext cx="4754880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Adult: all three fairness disparities evaluate to 0.000 in the packaged results.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COMPAS: non-zero gaps across all three fairness metrics; random forest is worse than logistic regression on each one.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 Credit: demographic parity stays small, but equalized odds is noticeably larger—especially for logistic regression.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the “fairest” model depends on which fairness definition is prioritized.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Agreement analysis: the core empirical finding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metrics do not provide strong overall consensus.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pic>
        <p:nvPicPr>
          <p:cNvPr id="5" name="Image 0" descr="/mnt/data/work/fair/FairEval_FINAL/figures/fig4_kendall_tau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17370"/>
            <a:ext cx="5029200" cy="37719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64592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EAF0F8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9019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50"/>
                </a:solidFill>
              </a:rPr>
              <a:t>Krippendorff's alpha = -0.111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355080" y="2834640"/>
            <a:ext cx="457200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 parity and equalized odds agree perfectly in the aggregated ranking (tau = 1.0).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parity moves in the opposite direction (tau = -1.0 against the other two metrics).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alpha indicates weak overall consensus among the fairness metrics.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fairness auditing should report disagreement explicitly, not collapse everything into one score.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Milestone 6 deliverables and reproducibility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package is organized for grading, inspection, and rerun.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54480"/>
            <a:ext cx="4846320" cy="658368"/>
          </a:xfrm>
          <a:prstGeom prst="roundRect">
            <a:avLst>
              <a:gd name="adj" fmla="val 5556"/>
            </a:avLst>
          </a:prstGeom>
          <a:solidFill>
            <a:srgbClr val="EDF3FA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8308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0"/>
                </a:solidFill>
              </a:rPr>
              <a:t>Final report (.docx)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4846320" cy="658368"/>
          </a:xfrm>
          <a:prstGeom prst="roundRect">
            <a:avLst>
              <a:gd name="adj" fmla="val 5556"/>
            </a:avLst>
          </a:prstGeom>
          <a:solidFill>
            <a:srgbClr val="FBFCFE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78308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0"/>
                </a:solidFill>
              </a:rPr>
              <a:t>Presentation slides (.pptx)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514600"/>
            <a:ext cx="4846320" cy="658368"/>
          </a:xfrm>
          <a:prstGeom prst="roundRect">
            <a:avLst>
              <a:gd name="adj" fmla="val 5556"/>
            </a:avLst>
          </a:prstGeom>
          <a:solidFill>
            <a:srgbClr val="EDF3FA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43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0"/>
                </a:solidFill>
              </a:rPr>
              <a:t>Runnable code package (.zip)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55080" y="2514600"/>
            <a:ext cx="4846320" cy="658368"/>
          </a:xfrm>
          <a:prstGeom prst="roundRect">
            <a:avLst>
              <a:gd name="adj" fmla="val 5556"/>
            </a:avLst>
          </a:prstGeom>
          <a:solidFill>
            <a:srgbClr val="FBFCFE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743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0"/>
                </a:solidFill>
              </a:rPr>
              <a:t>Datasets included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3474720"/>
            <a:ext cx="4846320" cy="658368"/>
          </a:xfrm>
          <a:prstGeom prst="roundRect">
            <a:avLst>
              <a:gd name="adj" fmla="val 5556"/>
            </a:avLst>
          </a:prstGeom>
          <a:solidFill>
            <a:srgbClr val="EDF3FA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70332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0"/>
                </a:solidFill>
              </a:rPr>
              <a:t>Updated README + environment files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55080" y="3474720"/>
            <a:ext cx="4846320" cy="658368"/>
          </a:xfrm>
          <a:prstGeom prst="roundRect">
            <a:avLst>
              <a:gd name="adj" fmla="val 5556"/>
            </a:avLst>
          </a:prstGeom>
          <a:solidFill>
            <a:srgbClr val="FBFCFE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70332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0"/>
                </a:solidFill>
              </a:rPr>
              <a:t>Presentation narration script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4434840"/>
            <a:ext cx="4846320" cy="658368"/>
          </a:xfrm>
          <a:prstGeom prst="roundRect">
            <a:avLst>
              <a:gd name="adj" fmla="val 5556"/>
            </a:avLst>
          </a:prstGeom>
          <a:solidFill>
            <a:srgbClr val="EDF3FA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66344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0"/>
                </a:solidFill>
              </a:rPr>
              <a:t>Code walkthrough / demo script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25880" y="5394960"/>
            <a:ext cx="9555480" cy="777240"/>
          </a:xfrm>
          <a:prstGeom prst="roundRect">
            <a:avLst>
              <a:gd name="adj" fmla="val 4706"/>
            </a:avLst>
          </a:prstGeom>
          <a:solidFill>
            <a:srgbClr val="FFF7E8"/>
          </a:solidFill>
          <a:ln w="12700">
            <a:solidFill>
              <a:srgbClr val="E0C2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5650992"/>
            <a:ext cx="9098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B10"/>
                </a:solidFill>
              </a:rPr>
              <a:t>Two items must still be recorded by the student: the presentation video and the live code walkthrough / execution demo.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benchmark is useful and reproducible, but it is not yet the full end-state roadmap.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37844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empirical benchmark is still small: two model families and three tabular datasets.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Sensitive-attribute grouping is coarse and does not address intersectional or subgroup analysis.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confidence intervals, repeated-split stability analysis, or mitigation baselines yet.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LLM benchmark adapters are packaged, but authenticated API execution is not part of the final validated results.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steps: expand models, add more fairness criteria, complete the LLM branch, and implement an LLM-as-a-Fairness-Judge module.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0" y="548640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AF0F8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5632704"/>
            <a:ext cx="7955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3250"/>
                </a:solidFill>
              </a:rPr>
              <a:t>Even with these limits, the current artifact shows why fairness evaluation should be treated as multi-metric diagnosis.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final benchmark demonstrates.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00200"/>
            <a:ext cx="10149840" cy="3337560"/>
          </a:xfrm>
          <a:prstGeom prst="roundRect">
            <a:avLst>
              <a:gd name="adj" fmla="val 1644"/>
            </a:avLst>
          </a:prstGeom>
          <a:solidFill>
            <a:srgbClr val="F8FBFE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96596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50"/>
                </a:solidFill>
              </a:rPr>
              <a:t>Bottom line: </a:t>
            </a:r>
            <a:pPr algn="ctr" indent="0" marL="0">
              <a:buNone/>
            </a:pPr>
            <a:r>
              <a:rPr lang="en-US" sz="2400" dirty="0">
                <a:solidFill>
                  <a:srgbClr val="263238"/>
                </a:solidFill>
              </a:rPr>
              <a:t>in the final FairEval benchmark, fairness metrics do not agree strongly enough to justify a simple one-number fairness story.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2834640"/>
            <a:ext cx="80467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contributes a coherent, reproducible benchmarking artifact.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analysis converts a theoretical concern into a measurable audit output.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 will extend the framework toward a more complete cross-modal fairness benchmark.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83480" y="5440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5F8C"/>
                </a:solidFill>
              </a:rPr>
              <a:t>Thank you.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40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DTSC 5505 • Milestone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Fairness Benchmarks Agree?</dc:title>
  <dc:subject>DTSC 5505 Milestone 6 Presentation</dc:subject>
  <dc:creator>OpenAI</dc:creator>
  <cp:lastModifiedBy>OpenAI</cp:lastModifiedBy>
  <cp:revision>1</cp:revision>
  <dcterms:created xsi:type="dcterms:W3CDTF">2026-04-07T04:13:45Z</dcterms:created>
  <dcterms:modified xsi:type="dcterms:W3CDTF">2026-04-07T04:13:45Z</dcterms:modified>
</cp:coreProperties>
</file>