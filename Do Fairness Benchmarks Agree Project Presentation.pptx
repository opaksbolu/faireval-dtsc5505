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66"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317"/>
    <p:restoredTop sz="94610"/>
  </p:normalViewPr>
  <p:slideViewPr>
    <p:cSldViewPr snapToGrid="0" snapToObjects="1">
      <p:cViewPr varScale="1">
        <p:scale>
          <a:sx n="85" d="100"/>
          <a:sy n="85" d="100"/>
        </p:scale>
        <p:origin x="176"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3870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1 minute.
Open by framing the presentation around a practical question: when we say a system is fair, do our fairness benchmarks actually agree? Then introduce yourself, the course, and the project category. Briefly preview that the presentation moves from motivation, to workflow, to corrected results, and then to the implications for reproducible fairness auditing.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1.5 minutes.
Explain that fairness is multi-dimensional. A model can look fine if only one number is reported, yet that same model may look different when the audit focuses on allocation, error behavior, or the meaning of positive predictions. Emphasize that the project moves from a one-number mindset to a structured audit that combines multiple metrics, uncertainty, agreement analysis, and documentation.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MASTER">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320040"/>
          </a:xfrm>
          <a:prstGeom prst="rect">
            <a:avLst/>
          </a:prstGeom>
          <a:solidFill>
            <a:srgbClr val="123B63"/>
          </a:solidFill>
          <a:ln w="12700">
            <a:solidFill>
              <a:srgbClr val="123B63"/>
            </a:solidFill>
            <a:prstDash val="solid"/>
          </a:ln>
        </p:spPr>
        <p:txBody>
          <a:bodyPr/>
          <a:lstStyle/>
          <a:p>
            <a:endParaRPr lang="en-US"/>
          </a:p>
        </p:txBody>
      </p:sp>
      <p:sp>
        <p:nvSpPr>
          <p:cNvPr id="3" name="Shape 1"/>
          <p:cNvSpPr/>
          <p:nvPr/>
        </p:nvSpPr>
        <p:spPr>
          <a:xfrm>
            <a:off x="0" y="6547104"/>
            <a:ext cx="12191695" cy="310896"/>
          </a:xfrm>
          <a:prstGeom prst="rect">
            <a:avLst/>
          </a:prstGeom>
          <a:solidFill>
            <a:srgbClr val="123B63"/>
          </a:solidFill>
          <a:ln w="12700">
            <a:solidFill>
              <a:srgbClr val="123B63"/>
            </a:solidFill>
            <a:prstDash val="solid"/>
          </a:ln>
        </p:spPr>
        <p:txBody>
          <a:bodyPr/>
          <a:lstStyle/>
          <a:p>
            <a:endParaRPr lang="en-US"/>
          </a:p>
        </p:txBody>
      </p:sp>
      <p:sp>
        <p:nvSpPr>
          <p:cNvPr id="4" name="Text 2"/>
          <p:cNvSpPr/>
          <p:nvPr/>
        </p:nvSpPr>
        <p:spPr>
          <a:xfrm>
            <a:off x="201168" y="64008"/>
            <a:ext cx="2926080" cy="164592"/>
          </a:xfrm>
          <a:prstGeom prst="rect">
            <a:avLst/>
          </a:prstGeom>
          <a:noFill/>
          <a:ln/>
        </p:spPr>
        <p:txBody>
          <a:bodyPr wrap="square" rtlCol="0" anchor="ctr"/>
          <a:lstStyle/>
          <a:p>
            <a:pPr marL="0" indent="0">
              <a:buNone/>
            </a:pPr>
            <a:r>
              <a:rPr lang="en-US" sz="1000" b="1" dirty="0">
                <a:solidFill>
                  <a:srgbClr val="FFFFFF"/>
                </a:solidFill>
              </a:rPr>
              <a:t>FairEval / DTSC 5505</a:t>
            </a:r>
            <a:endParaRPr lang="en-US" sz="1000" dirty="0"/>
          </a:p>
        </p:txBody>
      </p:sp>
      <p:sp>
        <p:nvSpPr>
          <p:cNvPr id="5" name="Text 3"/>
          <p:cNvSpPr/>
          <p:nvPr/>
        </p:nvSpPr>
        <p:spPr>
          <a:xfrm>
            <a:off x="201168" y="6583680"/>
            <a:ext cx="2560320" cy="109728"/>
          </a:xfrm>
          <a:prstGeom prst="rect">
            <a:avLst/>
          </a:prstGeom>
          <a:noFill/>
          <a:ln/>
        </p:spPr>
        <p:txBody>
          <a:bodyPr wrap="square" rtlCol="0" anchor="ctr"/>
          <a:lstStyle/>
          <a:p>
            <a:pPr marL="0" indent="0">
              <a:buNone/>
            </a:pPr>
            <a:r>
              <a:rPr lang="en-US" sz="800" dirty="0">
                <a:solidFill>
                  <a:srgbClr val="D9E6F2"/>
                </a:solidFill>
              </a:rPr>
              <a:t>Abdul-Azeem Opakunle</a:t>
            </a:r>
            <a:endParaRPr lang="en-US" sz="800" dirty="0"/>
          </a:p>
        </p:txBody>
      </p:sp>
      <p:sp>
        <p:nvSpPr>
          <p:cNvPr id="25" name="Slide Number Placeholder 0"/>
          <p:cNvSpPr>
            <a:spLocks noGrp="1"/>
          </p:cNvSpPr>
          <p:nvPr>
            <p:ph type="sldNum" sz="quarter" idx="4294967295"/>
          </p:nvPr>
        </p:nvSpPr>
        <p:spPr>
          <a:xfrm>
            <a:off x="11750040" y="6556248"/>
            <a:ext cx="201168" cy="109728"/>
          </a:xfrm>
          <a:prstGeom prst="rect">
            <a:avLst/>
          </a:prstGeom>
          <a:extLst>
            <a:ext uri="{C572A759-6A51-4108-AA02-DFA0A04FC94B}">
              <ma14:wrappingTextBoxFlag xmlns="" xmlns:ma14="http://schemas.microsoft.com/office/mac/drawingml/2011/main" val="0"/>
            </a:ext>
          </a:extLst>
        </p:spPr>
        <p:txBody>
          <a:bodyPr/>
          <a:lstStyle>
            <a:lvl1pPr>
              <a:defRPr sz="800">
                <a:solidFill>
                  <a:srgbClr val="D9E6F2"/>
                </a:solidFill>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127894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320040"/>
            <a:ext cx="12191695" cy="6227064"/>
          </a:xfrm>
          <a:prstGeom prst="rect">
            <a:avLst/>
          </a:prstGeom>
          <a:solidFill>
            <a:srgbClr val="F7F8FA"/>
          </a:solidFill>
          <a:ln w="12700">
            <a:solidFill>
              <a:srgbClr val="F7F8FA"/>
            </a:solidFill>
            <a:prstDash val="solid"/>
          </a:ln>
        </p:spPr>
        <p:txBody>
          <a:bodyPr/>
          <a:lstStyle/>
          <a:p>
            <a:endParaRPr lang="en-US"/>
          </a:p>
        </p:txBody>
      </p:sp>
      <p:sp>
        <p:nvSpPr>
          <p:cNvPr id="3" name="Shape 1"/>
          <p:cNvSpPr/>
          <p:nvPr/>
        </p:nvSpPr>
        <p:spPr>
          <a:xfrm>
            <a:off x="566928" y="987552"/>
            <a:ext cx="11018520" cy="4983480"/>
          </a:xfrm>
          <a:prstGeom prst="roundRect">
            <a:avLst>
              <a:gd name="adj" fmla="val 1468"/>
            </a:avLst>
          </a:prstGeom>
          <a:solidFill>
            <a:srgbClr val="FFFFFF"/>
          </a:solidFill>
          <a:ln w="12700">
            <a:solidFill>
              <a:srgbClr val="D7E0E8"/>
            </a:solidFill>
            <a:prstDash val="solid"/>
          </a:ln>
          <a:effectLst>
            <a:outerShdw blurRad="25400" dist="6350" dir="2700000" algn="bl" rotWithShape="0">
              <a:srgbClr val="000000">
                <a:alpha val="12000"/>
              </a:srgbClr>
            </a:outerShdw>
          </a:effectLst>
        </p:spPr>
        <p:txBody>
          <a:bodyPr/>
          <a:lstStyle/>
          <a:p>
            <a:endParaRPr lang="en-US"/>
          </a:p>
        </p:txBody>
      </p:sp>
      <p:sp>
        <p:nvSpPr>
          <p:cNvPr id="4" name="Shape 2"/>
          <p:cNvSpPr/>
          <p:nvPr/>
        </p:nvSpPr>
        <p:spPr>
          <a:xfrm>
            <a:off x="566928" y="987552"/>
            <a:ext cx="201168" cy="4983480"/>
          </a:xfrm>
          <a:prstGeom prst="rect">
            <a:avLst/>
          </a:prstGeom>
          <a:solidFill>
            <a:srgbClr val="0E7490"/>
          </a:solidFill>
          <a:ln w="12700">
            <a:solidFill>
              <a:srgbClr val="0E7490"/>
            </a:solidFill>
            <a:prstDash val="solid"/>
          </a:ln>
        </p:spPr>
        <p:txBody>
          <a:bodyPr/>
          <a:lstStyle/>
          <a:p>
            <a:endParaRPr lang="en-US"/>
          </a:p>
        </p:txBody>
      </p:sp>
      <p:sp>
        <p:nvSpPr>
          <p:cNvPr id="5" name="Text 3"/>
          <p:cNvSpPr/>
          <p:nvPr/>
        </p:nvSpPr>
        <p:spPr>
          <a:xfrm>
            <a:off x="960120" y="1325880"/>
            <a:ext cx="7955280" cy="640080"/>
          </a:xfrm>
          <a:prstGeom prst="rect">
            <a:avLst/>
          </a:prstGeom>
          <a:noFill/>
          <a:ln/>
        </p:spPr>
        <p:txBody>
          <a:bodyPr wrap="square" lIns="0" tIns="0" rIns="0" bIns="0" rtlCol="0" anchor="ctr"/>
          <a:lstStyle/>
          <a:p>
            <a:pPr marL="0" indent="0">
              <a:buNone/>
            </a:pPr>
            <a:r>
              <a:rPr lang="en-US" sz="2600" b="1" dirty="0">
                <a:solidFill>
                  <a:srgbClr val="1F2937"/>
                </a:solidFill>
              </a:rPr>
              <a:t>FairEval: Do Fairness Benchmarks Agree?</a:t>
            </a:r>
            <a:endParaRPr lang="en-US" sz="2600" dirty="0"/>
          </a:p>
        </p:txBody>
      </p:sp>
      <p:sp>
        <p:nvSpPr>
          <p:cNvPr id="6" name="Text 4"/>
          <p:cNvSpPr/>
          <p:nvPr/>
        </p:nvSpPr>
        <p:spPr>
          <a:xfrm>
            <a:off x="969264" y="1938528"/>
            <a:ext cx="7680960" cy="411480"/>
          </a:xfrm>
          <a:prstGeom prst="rect">
            <a:avLst/>
          </a:prstGeom>
          <a:noFill/>
          <a:ln/>
        </p:spPr>
        <p:txBody>
          <a:bodyPr wrap="square" lIns="0" tIns="0" rIns="0" bIns="0" rtlCol="0" anchor="ctr"/>
          <a:lstStyle/>
          <a:p>
            <a:pPr marL="0" indent="0">
              <a:buNone/>
            </a:pPr>
            <a:r>
              <a:rPr lang="en-US" sz="1400" i="1" dirty="0">
                <a:solidFill>
                  <a:srgbClr val="0E7490"/>
                </a:solidFill>
              </a:rPr>
              <a:t>A cross-metric, cross-modal analysis framework for machine learning and LLM bias auditing</a:t>
            </a:r>
            <a:endParaRPr lang="en-US" sz="1400" dirty="0"/>
          </a:p>
        </p:txBody>
      </p:sp>
      <p:sp>
        <p:nvSpPr>
          <p:cNvPr id="7" name="Shape 5"/>
          <p:cNvSpPr/>
          <p:nvPr/>
        </p:nvSpPr>
        <p:spPr>
          <a:xfrm>
            <a:off x="960120" y="2788920"/>
            <a:ext cx="4069080" cy="1554480"/>
          </a:xfrm>
          <a:prstGeom prst="roundRect">
            <a:avLst>
              <a:gd name="adj" fmla="val 4706"/>
            </a:avLst>
          </a:prstGeom>
          <a:solidFill>
            <a:srgbClr val="F8FAFC"/>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8" name="Text 6"/>
          <p:cNvSpPr/>
          <p:nvPr/>
        </p:nvSpPr>
        <p:spPr>
          <a:xfrm>
            <a:off x="1170432" y="3063240"/>
            <a:ext cx="3566160" cy="1005840"/>
          </a:xfrm>
          <a:prstGeom prst="rect">
            <a:avLst/>
          </a:prstGeom>
          <a:noFill/>
          <a:ln/>
        </p:spPr>
        <p:txBody>
          <a:bodyPr wrap="square" lIns="0" tIns="0" rIns="0" bIns="0" rtlCol="0" anchor="ctr"/>
          <a:lstStyle/>
          <a:p>
            <a:pPr marL="0" indent="0">
              <a:buNone/>
            </a:pPr>
            <a:r>
              <a:rPr lang="en-US" sz="1500" dirty="0">
                <a:solidFill>
                  <a:srgbClr val="1F2937"/>
                </a:solidFill>
              </a:rPr>
              <a:t>Abdul-Azeem Opakunle</a:t>
            </a:r>
            <a:endParaRPr lang="en-US" sz="1500" dirty="0"/>
          </a:p>
          <a:p>
            <a:pPr marL="0" indent="0">
              <a:buNone/>
            </a:pPr>
            <a:r>
              <a:rPr lang="en-US" sz="1500" dirty="0">
                <a:solidFill>
                  <a:srgbClr val="1F2937"/>
                </a:solidFill>
              </a:rPr>
              <a:t>DTSC 5505</a:t>
            </a:r>
            <a:endParaRPr lang="en-US" sz="1500" dirty="0"/>
          </a:p>
          <a:p>
            <a:pPr marL="0" indent="0">
              <a:buNone/>
            </a:pPr>
            <a:r>
              <a:rPr lang="en-US" sz="1500" dirty="0">
                <a:solidFill>
                  <a:srgbClr val="1F2937"/>
                </a:solidFill>
              </a:rPr>
              <a:t>Final Report &amp; Presentation</a:t>
            </a:r>
            <a:endParaRPr lang="en-US" sz="1500" dirty="0"/>
          </a:p>
          <a:p>
            <a:pPr marL="0" indent="0">
              <a:buNone/>
            </a:pPr>
            <a:r>
              <a:rPr lang="en-US" sz="1500" dirty="0">
                <a:solidFill>
                  <a:srgbClr val="1F2937"/>
                </a:solidFill>
              </a:rPr>
              <a:t>Benchmarking / Evaluation</a:t>
            </a:r>
            <a:endParaRPr lang="en-US" sz="1500" dirty="0"/>
          </a:p>
        </p:txBody>
      </p:sp>
      <p:sp>
        <p:nvSpPr>
          <p:cNvPr id="9" name="Shape 7"/>
          <p:cNvSpPr/>
          <p:nvPr/>
        </p:nvSpPr>
        <p:spPr>
          <a:xfrm>
            <a:off x="5349240" y="2788920"/>
            <a:ext cx="5212080" cy="1783080"/>
          </a:xfrm>
          <a:prstGeom prst="roundRect">
            <a:avLst>
              <a:gd name="adj" fmla="val 4103"/>
            </a:avLst>
          </a:prstGeom>
          <a:solidFill>
            <a:srgbClr val="F8FAFC"/>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10" name="Text 8"/>
          <p:cNvSpPr/>
          <p:nvPr/>
        </p:nvSpPr>
        <p:spPr>
          <a:xfrm>
            <a:off x="5577840" y="2999232"/>
            <a:ext cx="2377440" cy="274320"/>
          </a:xfrm>
          <a:prstGeom prst="rect">
            <a:avLst/>
          </a:prstGeom>
          <a:noFill/>
          <a:ln/>
        </p:spPr>
        <p:txBody>
          <a:bodyPr wrap="square" rtlCol="0" anchor="ctr"/>
          <a:lstStyle/>
          <a:p>
            <a:pPr marL="0" indent="0">
              <a:buNone/>
            </a:pPr>
            <a:r>
              <a:rPr lang="en-US" sz="1600" b="1" dirty="0">
                <a:solidFill>
                  <a:srgbClr val="1F2937"/>
                </a:solidFill>
              </a:rPr>
              <a:t>Presentation roadmap</a:t>
            </a:r>
            <a:endParaRPr lang="en-US" sz="1600" dirty="0"/>
          </a:p>
        </p:txBody>
      </p:sp>
      <p:sp>
        <p:nvSpPr>
          <p:cNvPr id="11" name="Text 9"/>
          <p:cNvSpPr/>
          <p:nvPr/>
        </p:nvSpPr>
        <p:spPr>
          <a:xfrm>
            <a:off x="5577840" y="3310128"/>
            <a:ext cx="4389120" cy="960120"/>
          </a:xfrm>
          <a:prstGeom prst="rect">
            <a:avLst/>
          </a:prstGeom>
          <a:noFill/>
          <a:ln/>
        </p:spPr>
        <p:txBody>
          <a:bodyPr wrap="square" lIns="25400" tIns="25400" rIns="25400" bIns="25400" rtlCol="0" anchor="t"/>
          <a:lstStyle/>
          <a:p>
            <a:pPr marL="177800" indent="-177800">
              <a:buSzPct val="100000"/>
              <a:buChar char="•"/>
            </a:pPr>
            <a:r>
              <a:rPr lang="en-US" sz="1300" dirty="0">
                <a:solidFill>
                  <a:srgbClr val="1F2937"/>
                </a:solidFill>
              </a:rPr>
              <a:t>Problem motivation and research question</a:t>
            </a:r>
            <a:endParaRPr lang="en-US" sz="1300" dirty="0"/>
          </a:p>
          <a:p>
            <a:pPr marL="177800" indent="-177800">
              <a:buSzPct val="100000"/>
              <a:buChar char="•"/>
            </a:pPr>
            <a:r>
              <a:rPr lang="en-US" sz="1300" dirty="0">
                <a:solidFill>
                  <a:srgbClr val="1F2937"/>
                </a:solidFill>
              </a:rPr>
              <a:t>Workflow, datasets, models, and metrics</a:t>
            </a:r>
            <a:endParaRPr lang="en-US" sz="1300" dirty="0"/>
          </a:p>
          <a:p>
            <a:pPr marL="177800" indent="-177800">
              <a:buSzPct val="100000"/>
              <a:buChar char="•"/>
            </a:pPr>
            <a:r>
              <a:rPr lang="en-US" sz="1300" dirty="0">
                <a:solidFill>
                  <a:srgbClr val="1F2937"/>
                </a:solidFill>
              </a:rPr>
              <a:t>Corrected benchmark results and agreement analysis</a:t>
            </a:r>
            <a:endParaRPr lang="en-US" sz="1300" dirty="0"/>
          </a:p>
          <a:p>
            <a:pPr marL="177800" indent="-177800">
              <a:buSzPct val="100000"/>
              <a:buChar char="•"/>
            </a:pPr>
            <a:r>
              <a:rPr lang="en-US" sz="1300" dirty="0">
                <a:solidFill>
                  <a:srgbClr val="1F2937"/>
                </a:solidFill>
              </a:rPr>
              <a:t>Cross-modal outputs, limitations, and next steps</a:t>
            </a:r>
            <a:endParaRPr lang="en-US" sz="1300" dirty="0"/>
          </a:p>
        </p:txBody>
      </p:sp>
      <p:sp>
        <p:nvSpPr>
          <p:cNvPr id="25" name="Slide Number Placeholder 0"/>
          <p:cNvSpPr>
            <a:spLocks noGrp="1"/>
          </p:cNvSpPr>
          <p:nvPr>
            <p:ph type="sldNum" sz="quarter" idx="4294967295"/>
          </p:nvPr>
        </p:nvSpPr>
        <p:spPr>
          <a:xfrm>
            <a:off x="11750040" y="6556248"/>
            <a:ext cx="201168" cy="109728"/>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D9E6F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pPr algn="l"/>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530352"/>
            <a:ext cx="8046720" cy="411480"/>
          </a:xfrm>
          <a:prstGeom prst="rect">
            <a:avLst/>
          </a:prstGeom>
          <a:noFill/>
          <a:ln/>
        </p:spPr>
        <p:txBody>
          <a:bodyPr wrap="square" lIns="0" tIns="0" rIns="0" bIns="0" rtlCol="0" anchor="ctr"/>
          <a:lstStyle/>
          <a:p>
            <a:pPr marL="0" indent="0">
              <a:buNone/>
            </a:pPr>
            <a:r>
              <a:rPr lang="en-US" sz="2400" b="1" dirty="0">
                <a:solidFill>
                  <a:srgbClr val="1F2937"/>
                </a:solidFill>
                <a:latin typeface="Aptos Display" pitchFamily="34" charset="0"/>
                <a:ea typeface="Aptos Display" pitchFamily="34" charset="-122"/>
                <a:cs typeface="Aptos Display" pitchFamily="34" charset="-120"/>
              </a:rPr>
              <a:t>Why this problem matters</a:t>
            </a:r>
            <a:endParaRPr lang="en-US" sz="2400" dirty="0"/>
          </a:p>
        </p:txBody>
      </p:sp>
      <p:sp>
        <p:nvSpPr>
          <p:cNvPr id="3" name="Shape 1"/>
          <p:cNvSpPr/>
          <p:nvPr/>
        </p:nvSpPr>
        <p:spPr>
          <a:xfrm>
            <a:off x="411480" y="1225296"/>
            <a:ext cx="11064240" cy="0"/>
          </a:xfrm>
          <a:prstGeom prst="line">
            <a:avLst/>
          </a:prstGeom>
          <a:noFill/>
          <a:ln w="12700">
            <a:solidFill>
              <a:srgbClr val="D7E0E8"/>
            </a:solidFill>
            <a:prstDash val="solid"/>
          </a:ln>
        </p:spPr>
        <p:txBody>
          <a:bodyPr/>
          <a:lstStyle/>
          <a:p>
            <a:endParaRPr lang="en-US"/>
          </a:p>
        </p:txBody>
      </p:sp>
      <p:sp>
        <p:nvSpPr>
          <p:cNvPr id="4" name="Shape 2"/>
          <p:cNvSpPr/>
          <p:nvPr/>
        </p:nvSpPr>
        <p:spPr>
          <a:xfrm>
            <a:off x="566928" y="1508760"/>
            <a:ext cx="5486400" cy="4389120"/>
          </a:xfrm>
          <a:prstGeom prst="roundRect">
            <a:avLst>
              <a:gd name="adj" fmla="val 1667"/>
            </a:avLst>
          </a:prstGeom>
          <a:solidFill>
            <a:srgbClr val="FFFFFF"/>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5" name="Text 3"/>
          <p:cNvSpPr/>
          <p:nvPr/>
        </p:nvSpPr>
        <p:spPr>
          <a:xfrm>
            <a:off x="822960" y="1828800"/>
            <a:ext cx="4846320" cy="2651760"/>
          </a:xfrm>
          <a:prstGeom prst="rect">
            <a:avLst/>
          </a:prstGeom>
          <a:noFill/>
          <a:ln/>
        </p:spPr>
        <p:txBody>
          <a:bodyPr wrap="square" lIns="25400" tIns="25400" rIns="25400" bIns="25400" rtlCol="0" anchor="t"/>
          <a:lstStyle/>
          <a:p>
            <a:pPr marL="177800" indent="-177800">
              <a:buSzPct val="100000"/>
              <a:buChar char="•"/>
            </a:pPr>
            <a:r>
              <a:rPr lang="en-US" sz="1700" dirty="0">
                <a:solidFill>
                  <a:srgbClr val="1F2937"/>
                </a:solidFill>
              </a:rPr>
              <a:t>A single fairness number can hide different harm models.</a:t>
            </a:r>
            <a:endParaRPr lang="en-US" sz="1700" dirty="0"/>
          </a:p>
          <a:p>
            <a:pPr marL="177800" indent="-177800">
              <a:buSzPct val="100000"/>
              <a:buChar char="•"/>
            </a:pPr>
            <a:r>
              <a:rPr lang="en-US" sz="1700" dirty="0">
                <a:solidFill>
                  <a:srgbClr val="1F2937"/>
                </a:solidFill>
              </a:rPr>
              <a:t>High-stakes systems can be accurate on average while distributing errors unevenly across groups.</a:t>
            </a:r>
            <a:endParaRPr lang="en-US" sz="1700" dirty="0"/>
          </a:p>
          <a:p>
            <a:pPr marL="177800" indent="-177800">
              <a:buSzPct val="100000"/>
              <a:buChar char="•"/>
            </a:pPr>
            <a:r>
              <a:rPr lang="en-US" sz="1700" dirty="0">
                <a:solidFill>
                  <a:srgbClr val="1F2937"/>
                </a:solidFill>
              </a:rPr>
              <a:t>Demographic parity, equalized odds, and predictive parity encode different normative priorities.</a:t>
            </a:r>
            <a:endParaRPr lang="en-US" sz="1700" dirty="0"/>
          </a:p>
          <a:p>
            <a:pPr marL="177800" indent="-177800">
              <a:buSzPct val="100000"/>
              <a:buChar char="•"/>
            </a:pPr>
            <a:r>
              <a:rPr lang="en-US" sz="1700" dirty="0">
                <a:solidFill>
                  <a:srgbClr val="1F2937"/>
                </a:solidFill>
              </a:rPr>
              <a:t>If the metric choice is hidden, stakeholders may treat a value-sensitive decision as an objective fact.</a:t>
            </a:r>
            <a:endParaRPr lang="en-US" sz="1700" dirty="0"/>
          </a:p>
        </p:txBody>
      </p:sp>
      <p:sp>
        <p:nvSpPr>
          <p:cNvPr id="6" name="Text 4"/>
          <p:cNvSpPr/>
          <p:nvPr/>
        </p:nvSpPr>
        <p:spPr>
          <a:xfrm>
            <a:off x="841248" y="4800600"/>
            <a:ext cx="4754880" cy="502920"/>
          </a:xfrm>
          <a:prstGeom prst="rect">
            <a:avLst/>
          </a:prstGeom>
          <a:noFill/>
          <a:ln/>
        </p:spPr>
        <p:txBody>
          <a:bodyPr wrap="square" rtlCol="0" anchor="ctr"/>
          <a:lstStyle/>
          <a:p>
            <a:pPr marL="0" indent="0" algn="l">
              <a:buNone/>
            </a:pPr>
            <a:r>
              <a:rPr lang="en-US" sz="1400" b="1" dirty="0">
                <a:solidFill>
                  <a:srgbClr val="123B63"/>
                </a:solidFill>
              </a:rPr>
              <a:t>Core claim: fairness auditing should be treated as a structured, multi-metric reporting task—not a one-number decision rule.</a:t>
            </a:r>
            <a:endParaRPr lang="en-US" sz="1400" dirty="0"/>
          </a:p>
        </p:txBody>
      </p:sp>
      <p:sp>
        <p:nvSpPr>
          <p:cNvPr id="7" name="Shape 5"/>
          <p:cNvSpPr/>
          <p:nvPr/>
        </p:nvSpPr>
        <p:spPr>
          <a:xfrm>
            <a:off x="6355080" y="1600200"/>
            <a:ext cx="5257800" cy="4206240"/>
          </a:xfrm>
          <a:prstGeom prst="roundRect">
            <a:avLst>
              <a:gd name="adj" fmla="val 1739"/>
            </a:avLst>
          </a:prstGeom>
          <a:solidFill>
            <a:srgbClr val="F8FAFC"/>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8" name="Text 6"/>
          <p:cNvSpPr/>
          <p:nvPr/>
        </p:nvSpPr>
        <p:spPr>
          <a:xfrm>
            <a:off x="6675120" y="1828800"/>
            <a:ext cx="1920240" cy="274320"/>
          </a:xfrm>
          <a:prstGeom prst="rect">
            <a:avLst/>
          </a:prstGeom>
          <a:noFill/>
          <a:ln/>
        </p:spPr>
        <p:txBody>
          <a:bodyPr wrap="square" rtlCol="0" anchor="ctr"/>
          <a:lstStyle/>
          <a:p>
            <a:pPr marL="0" indent="0" algn="ctr">
              <a:buNone/>
            </a:pPr>
            <a:r>
              <a:rPr lang="en-US" sz="1400" b="1" dirty="0">
                <a:solidFill>
                  <a:srgbClr val="C95C54"/>
                </a:solidFill>
              </a:rPr>
              <a:t>From one number …</a:t>
            </a:r>
            <a:endParaRPr lang="en-US" sz="1400" dirty="0"/>
          </a:p>
        </p:txBody>
      </p:sp>
      <p:sp>
        <p:nvSpPr>
          <p:cNvPr id="9" name="Text 7"/>
          <p:cNvSpPr/>
          <p:nvPr/>
        </p:nvSpPr>
        <p:spPr>
          <a:xfrm>
            <a:off x="9281160" y="1828800"/>
            <a:ext cx="1920240" cy="274320"/>
          </a:xfrm>
          <a:prstGeom prst="rect">
            <a:avLst/>
          </a:prstGeom>
          <a:noFill/>
          <a:ln/>
        </p:spPr>
        <p:txBody>
          <a:bodyPr wrap="square" rtlCol="0" anchor="ctr"/>
          <a:lstStyle/>
          <a:p>
            <a:pPr marL="0" indent="0" algn="ctr">
              <a:buNone/>
            </a:pPr>
            <a:r>
              <a:rPr lang="en-US" sz="1400" b="1" dirty="0">
                <a:solidFill>
                  <a:srgbClr val="5B9A68"/>
                </a:solidFill>
              </a:rPr>
              <a:t>… to a structured audit</a:t>
            </a:r>
            <a:endParaRPr lang="en-US" sz="1400" dirty="0"/>
          </a:p>
        </p:txBody>
      </p:sp>
      <p:sp>
        <p:nvSpPr>
          <p:cNvPr id="10" name="Shape 8"/>
          <p:cNvSpPr/>
          <p:nvPr/>
        </p:nvSpPr>
        <p:spPr>
          <a:xfrm>
            <a:off x="6758756" y="3132377"/>
            <a:ext cx="1188720" cy="1188720"/>
          </a:xfrm>
          <a:prstGeom prst="ellipse">
            <a:avLst/>
          </a:prstGeom>
          <a:solidFill>
            <a:srgbClr val="FDE8E7"/>
          </a:solidFill>
          <a:ln w="12700">
            <a:solidFill>
              <a:srgbClr val="C95C54"/>
            </a:solidFill>
            <a:prstDash val="solid"/>
          </a:ln>
        </p:spPr>
        <p:txBody>
          <a:bodyPr/>
          <a:lstStyle/>
          <a:p>
            <a:endParaRPr lang="en-US"/>
          </a:p>
        </p:txBody>
      </p:sp>
      <p:sp>
        <p:nvSpPr>
          <p:cNvPr id="11" name="Text 9"/>
          <p:cNvSpPr/>
          <p:nvPr/>
        </p:nvSpPr>
        <p:spPr>
          <a:xfrm>
            <a:off x="6882200" y="3516425"/>
            <a:ext cx="941832" cy="365760"/>
          </a:xfrm>
          <a:prstGeom prst="rect">
            <a:avLst/>
          </a:prstGeom>
          <a:noFill/>
          <a:ln/>
        </p:spPr>
        <p:txBody>
          <a:bodyPr wrap="square" rtlCol="0" anchor="ctr"/>
          <a:lstStyle/>
          <a:p>
            <a:pPr marL="0" indent="0" algn="ctr">
              <a:buNone/>
            </a:pPr>
            <a:r>
              <a:rPr lang="en-US" sz="2000" b="1" dirty="0">
                <a:solidFill>
                  <a:srgbClr val="C95C54"/>
                </a:solidFill>
              </a:rPr>
              <a:t>“Fair”</a:t>
            </a:r>
            <a:endParaRPr lang="en-US" sz="2000" dirty="0"/>
          </a:p>
        </p:txBody>
      </p:sp>
      <p:sp>
        <p:nvSpPr>
          <p:cNvPr id="12" name="Shape 10"/>
          <p:cNvSpPr/>
          <p:nvPr/>
        </p:nvSpPr>
        <p:spPr>
          <a:xfrm>
            <a:off x="8182317" y="3539285"/>
            <a:ext cx="594360" cy="320040"/>
          </a:xfrm>
          <a:prstGeom prst="chevron">
            <a:avLst/>
          </a:prstGeom>
          <a:solidFill>
            <a:srgbClr val="D7E0E8"/>
          </a:solidFill>
          <a:ln w="12700">
            <a:solidFill>
              <a:srgbClr val="D7E0E8"/>
            </a:solidFill>
            <a:prstDash val="solid"/>
          </a:ln>
        </p:spPr>
        <p:txBody>
          <a:bodyPr/>
          <a:lstStyle/>
          <a:p>
            <a:endParaRPr lang="en-US"/>
          </a:p>
        </p:txBody>
      </p:sp>
      <p:sp>
        <p:nvSpPr>
          <p:cNvPr id="13" name="Shape 11"/>
          <p:cNvSpPr/>
          <p:nvPr/>
        </p:nvSpPr>
        <p:spPr>
          <a:xfrm>
            <a:off x="9011518" y="2662016"/>
            <a:ext cx="1092602" cy="905257"/>
          </a:xfrm>
          <a:prstGeom prst="roundRect">
            <a:avLst>
              <a:gd name="adj" fmla="val 8889"/>
            </a:avLst>
          </a:prstGeom>
          <a:solidFill>
            <a:srgbClr val="D9EEF2"/>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14" name="Text 12"/>
          <p:cNvSpPr/>
          <p:nvPr/>
        </p:nvSpPr>
        <p:spPr>
          <a:xfrm>
            <a:off x="9161397" y="2927193"/>
            <a:ext cx="813816" cy="411480"/>
          </a:xfrm>
          <a:prstGeom prst="rect">
            <a:avLst/>
          </a:prstGeom>
          <a:noFill/>
          <a:ln/>
        </p:spPr>
        <p:txBody>
          <a:bodyPr wrap="square" rtlCol="0" anchor="ctr"/>
          <a:lstStyle/>
          <a:p>
            <a:pPr marL="0" indent="0" algn="ctr">
              <a:buNone/>
            </a:pPr>
            <a:r>
              <a:rPr lang="en-US" sz="1200" b="1" dirty="0">
                <a:solidFill>
                  <a:srgbClr val="1F2937"/>
                </a:solidFill>
              </a:rPr>
              <a:t>Multiple</a:t>
            </a:r>
            <a:endParaRPr lang="en-US" sz="1200" dirty="0"/>
          </a:p>
          <a:p>
            <a:pPr marL="0" indent="0" algn="ctr">
              <a:buNone/>
            </a:pPr>
            <a:r>
              <a:rPr lang="en-US" sz="1200" b="1" dirty="0">
                <a:solidFill>
                  <a:srgbClr val="1F2937"/>
                </a:solidFill>
              </a:rPr>
              <a:t>metrics</a:t>
            </a:r>
            <a:endParaRPr lang="en-US" sz="1200" dirty="0"/>
          </a:p>
        </p:txBody>
      </p:sp>
      <p:sp>
        <p:nvSpPr>
          <p:cNvPr id="15" name="Shape 13"/>
          <p:cNvSpPr/>
          <p:nvPr/>
        </p:nvSpPr>
        <p:spPr>
          <a:xfrm>
            <a:off x="10224322" y="2662016"/>
            <a:ext cx="1092602" cy="905257"/>
          </a:xfrm>
          <a:prstGeom prst="roundRect">
            <a:avLst>
              <a:gd name="adj" fmla="val 8889"/>
            </a:avLst>
          </a:prstGeom>
          <a:solidFill>
            <a:srgbClr val="DFF1E1"/>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16" name="Text 14"/>
          <p:cNvSpPr/>
          <p:nvPr/>
        </p:nvSpPr>
        <p:spPr>
          <a:xfrm>
            <a:off x="10279305" y="2927193"/>
            <a:ext cx="1024128" cy="411480"/>
          </a:xfrm>
          <a:prstGeom prst="rect">
            <a:avLst/>
          </a:prstGeom>
          <a:noFill/>
          <a:ln/>
        </p:spPr>
        <p:txBody>
          <a:bodyPr wrap="square" rtlCol="0" anchor="ctr"/>
          <a:lstStyle/>
          <a:p>
            <a:pPr marL="0" indent="0" algn="ctr">
              <a:buNone/>
            </a:pPr>
            <a:r>
              <a:rPr lang="en-US" sz="1200" b="1" dirty="0">
                <a:solidFill>
                  <a:srgbClr val="1F2937"/>
                </a:solidFill>
              </a:rPr>
              <a:t>Uncertainty</a:t>
            </a:r>
            <a:endParaRPr lang="en-US" sz="1200" dirty="0"/>
          </a:p>
        </p:txBody>
      </p:sp>
      <p:sp>
        <p:nvSpPr>
          <p:cNvPr id="17" name="Shape 15"/>
          <p:cNvSpPr/>
          <p:nvPr/>
        </p:nvSpPr>
        <p:spPr>
          <a:xfrm>
            <a:off x="9011518" y="3713576"/>
            <a:ext cx="1092602" cy="905257"/>
          </a:xfrm>
          <a:prstGeom prst="roundRect">
            <a:avLst>
              <a:gd name="adj" fmla="val 8889"/>
            </a:avLst>
          </a:prstGeom>
          <a:solidFill>
            <a:srgbClr val="FBE7C5"/>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18" name="Text 16"/>
          <p:cNvSpPr/>
          <p:nvPr/>
        </p:nvSpPr>
        <p:spPr>
          <a:xfrm>
            <a:off x="9114888" y="3976521"/>
            <a:ext cx="960120" cy="411480"/>
          </a:xfrm>
          <a:prstGeom prst="rect">
            <a:avLst/>
          </a:prstGeom>
          <a:noFill/>
          <a:ln/>
        </p:spPr>
        <p:txBody>
          <a:bodyPr wrap="square" rtlCol="0" anchor="ctr"/>
          <a:lstStyle/>
          <a:p>
            <a:pPr marL="0" indent="0" algn="ctr">
              <a:buNone/>
            </a:pPr>
            <a:r>
              <a:rPr lang="en-US" sz="1200" b="1" dirty="0">
                <a:solidFill>
                  <a:srgbClr val="1F2937"/>
                </a:solidFill>
              </a:rPr>
              <a:t>Agreement</a:t>
            </a:r>
            <a:endParaRPr lang="en-US" sz="1200" dirty="0"/>
          </a:p>
        </p:txBody>
      </p:sp>
      <p:sp>
        <p:nvSpPr>
          <p:cNvPr id="19" name="Shape 17"/>
          <p:cNvSpPr/>
          <p:nvPr/>
        </p:nvSpPr>
        <p:spPr>
          <a:xfrm>
            <a:off x="10213171" y="3713576"/>
            <a:ext cx="1092602" cy="905257"/>
          </a:xfrm>
          <a:prstGeom prst="roundRect">
            <a:avLst>
              <a:gd name="adj" fmla="val 8889"/>
            </a:avLst>
          </a:prstGeom>
          <a:solidFill>
            <a:srgbClr val="FCE2DF"/>
          </a:solidFill>
          <a:ln w="12700">
            <a:solidFill>
              <a:srgbClr val="D7E0E8"/>
            </a:solidFill>
            <a:prstDash val="solid"/>
          </a:ln>
          <a:effectLst>
            <a:outerShdw blurRad="19050" dist="6350" dir="2700000" algn="bl" rotWithShape="0">
              <a:srgbClr val="000000">
                <a:alpha val="12000"/>
              </a:srgbClr>
            </a:outerShdw>
          </a:effectLst>
        </p:spPr>
        <p:txBody>
          <a:bodyPr/>
          <a:lstStyle/>
          <a:p>
            <a:endParaRPr lang="en-US"/>
          </a:p>
        </p:txBody>
      </p:sp>
      <p:sp>
        <p:nvSpPr>
          <p:cNvPr id="20" name="Text 18"/>
          <p:cNvSpPr/>
          <p:nvPr/>
        </p:nvSpPr>
        <p:spPr>
          <a:xfrm>
            <a:off x="10102143" y="3976521"/>
            <a:ext cx="1338072" cy="411480"/>
          </a:xfrm>
          <a:prstGeom prst="rect">
            <a:avLst/>
          </a:prstGeom>
          <a:noFill/>
          <a:ln/>
        </p:spPr>
        <p:txBody>
          <a:bodyPr wrap="square" rtlCol="0" anchor="ctr"/>
          <a:lstStyle/>
          <a:p>
            <a:pPr marL="0" indent="0" algn="ctr">
              <a:buNone/>
            </a:pPr>
            <a:r>
              <a:rPr lang="en-US" sz="1200" b="1" dirty="0">
                <a:solidFill>
                  <a:srgbClr val="1F2937"/>
                </a:solidFill>
              </a:rPr>
              <a:t>Documentation</a:t>
            </a:r>
            <a:endParaRPr lang="en-US" sz="1200" dirty="0"/>
          </a:p>
        </p:txBody>
      </p:sp>
      <p:sp>
        <p:nvSpPr>
          <p:cNvPr id="25" name="Slide Number Placeholder 0"/>
          <p:cNvSpPr>
            <a:spLocks noGrp="1"/>
          </p:cNvSpPr>
          <p:nvPr>
            <p:ph type="sldNum" sz="quarter" idx="4294967295"/>
          </p:nvPr>
        </p:nvSpPr>
        <p:spPr>
          <a:xfrm>
            <a:off x="11750040" y="6556248"/>
            <a:ext cx="201168" cy="109728"/>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D9E6F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pPr algn="l"/>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Project question and contributions</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3</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Text 6"/>
          <p:cNvSpPr/>
          <p:nvPr/>
        </p:nvSpPr>
        <p:spPr>
          <a:xfrm>
            <a:off x="658368" y="1234440"/>
            <a:ext cx="1828800" cy="201168"/>
          </a:xfrm>
          <a:prstGeom prst="rect">
            <a:avLst/>
          </a:prstGeom>
          <a:noFill/>
          <a:ln/>
        </p:spPr>
        <p:txBody>
          <a:bodyPr wrap="square" rtlCol="0" anchor="ctr"/>
          <a:lstStyle/>
          <a:p>
            <a:pPr marL="0" indent="0">
              <a:buNone/>
            </a:pPr>
            <a:r>
              <a:rPr lang="en-US" sz="1500" b="1" dirty="0">
                <a:solidFill>
                  <a:srgbClr val="17324D"/>
                </a:solidFill>
              </a:rPr>
              <a:t>Research question</a:t>
            </a:r>
            <a:endParaRPr lang="en-US" sz="1500" dirty="0"/>
          </a:p>
        </p:txBody>
      </p:sp>
      <p:sp>
        <p:nvSpPr>
          <p:cNvPr id="9" name="Shape 7"/>
          <p:cNvSpPr/>
          <p:nvPr/>
        </p:nvSpPr>
        <p:spPr>
          <a:xfrm>
            <a:off x="658368" y="1536191"/>
            <a:ext cx="3969388" cy="1527031"/>
          </a:xfrm>
          <a:prstGeom prst="roundRect">
            <a:avLst>
              <a:gd name="adj" fmla="val 5085"/>
            </a:avLst>
          </a:prstGeom>
          <a:solidFill>
            <a:srgbClr val="FFFFFF"/>
          </a:solidFill>
          <a:ln w="12700">
            <a:solidFill>
              <a:srgbClr val="D7DEE7"/>
            </a:solidFill>
            <a:prstDash val="solid"/>
          </a:ln>
        </p:spPr>
        <p:txBody>
          <a:bodyPr/>
          <a:lstStyle/>
          <a:p>
            <a:endParaRPr lang="en-US"/>
          </a:p>
        </p:txBody>
      </p:sp>
      <p:sp>
        <p:nvSpPr>
          <p:cNvPr id="10" name="Text 8"/>
          <p:cNvSpPr/>
          <p:nvPr/>
        </p:nvSpPr>
        <p:spPr>
          <a:xfrm>
            <a:off x="896112" y="2039130"/>
            <a:ext cx="3383280" cy="585216"/>
          </a:xfrm>
          <a:prstGeom prst="rect">
            <a:avLst/>
          </a:prstGeom>
          <a:noFill/>
          <a:ln/>
        </p:spPr>
        <p:txBody>
          <a:bodyPr wrap="square" rtlCol="0" anchor="ctr"/>
          <a:lstStyle/>
          <a:p>
            <a:pPr marL="0" indent="0" algn="ctr">
              <a:buNone/>
            </a:pPr>
            <a:r>
              <a:rPr lang="en-US" sz="1800" b="1" dirty="0">
                <a:solidFill>
                  <a:srgbClr val="1F2937"/>
                </a:solidFill>
              </a:rPr>
              <a:t>Do fairness benchmarks agree, or do different metrics produce different judgments about which models are fairer?</a:t>
            </a:r>
            <a:endParaRPr lang="en-US" sz="1800" dirty="0"/>
          </a:p>
        </p:txBody>
      </p:sp>
      <p:sp>
        <p:nvSpPr>
          <p:cNvPr id="11" name="Text 9"/>
          <p:cNvSpPr/>
          <p:nvPr/>
        </p:nvSpPr>
        <p:spPr>
          <a:xfrm>
            <a:off x="4983480" y="1234440"/>
            <a:ext cx="2743200" cy="201168"/>
          </a:xfrm>
          <a:prstGeom prst="rect">
            <a:avLst/>
          </a:prstGeom>
          <a:noFill/>
          <a:ln/>
        </p:spPr>
        <p:txBody>
          <a:bodyPr wrap="square" rtlCol="0" anchor="ctr"/>
          <a:lstStyle/>
          <a:p>
            <a:pPr marL="0" indent="0">
              <a:buNone/>
            </a:pPr>
            <a:r>
              <a:rPr lang="en-US" sz="1500" b="1" dirty="0">
                <a:solidFill>
                  <a:srgbClr val="17324D"/>
                </a:solidFill>
              </a:rPr>
              <a:t>What FairEval contributes</a:t>
            </a:r>
            <a:endParaRPr lang="en-US" sz="1500" dirty="0"/>
          </a:p>
        </p:txBody>
      </p:sp>
      <p:sp>
        <p:nvSpPr>
          <p:cNvPr id="12" name="Text 10"/>
          <p:cNvSpPr/>
          <p:nvPr/>
        </p:nvSpPr>
        <p:spPr>
          <a:xfrm>
            <a:off x="4983480" y="1490472"/>
            <a:ext cx="6126480" cy="2011680"/>
          </a:xfrm>
          <a:prstGeom prst="rect">
            <a:avLst/>
          </a:prstGeom>
          <a:noFill/>
          <a:ln/>
        </p:spPr>
        <p:txBody>
          <a:bodyPr wrap="square" lIns="25400" tIns="25400" rIns="25400" bIns="25400" rtlCol="0" anchor="t"/>
          <a:lstStyle/>
          <a:p>
            <a:pPr marL="177800" indent="-177800">
              <a:buSzPct val="100000"/>
              <a:buChar char="•"/>
            </a:pPr>
            <a:r>
              <a:rPr lang="en-US" sz="1550" dirty="0">
                <a:solidFill>
                  <a:srgbClr val="1F2937"/>
                </a:solidFill>
                <a:latin typeface="Aptos" pitchFamily="34" charset="0"/>
                <a:ea typeface="Aptos" pitchFamily="34" charset="-122"/>
                <a:cs typeface="Aptos" pitchFamily="34" charset="-120"/>
              </a:rPr>
              <a:t>Seven classical tabular models across Adult, COMPAS, and German Credit</a:t>
            </a:r>
            <a:endParaRPr lang="en-US" sz="1550" dirty="0"/>
          </a:p>
          <a:p>
            <a:pPr marL="177800" indent="-177800">
              <a:buSzPct val="100000"/>
              <a:buChar char="•"/>
            </a:pPr>
            <a:r>
              <a:rPr lang="en-US" sz="1550" dirty="0">
                <a:solidFill>
                  <a:srgbClr val="1F2937"/>
                </a:solidFill>
                <a:latin typeface="Aptos" pitchFamily="34" charset="0"/>
                <a:ea typeface="Aptos" pitchFamily="34" charset="-122"/>
                <a:cs typeface="Aptos" pitchFamily="34" charset="-120"/>
              </a:rPr>
              <a:t>Three fairness metrics plus bootstrap confidence intervals</a:t>
            </a:r>
            <a:endParaRPr lang="en-US" sz="1550" dirty="0"/>
          </a:p>
          <a:p>
            <a:pPr marL="177800" indent="-177800">
              <a:buSzPct val="100000"/>
              <a:buChar char="•"/>
            </a:pPr>
            <a:r>
              <a:rPr lang="en-US" sz="1550" dirty="0">
                <a:solidFill>
                  <a:srgbClr val="1F2937"/>
                </a:solidFill>
                <a:latin typeface="Aptos" pitchFamily="34" charset="0"/>
                <a:ea typeface="Aptos" pitchFamily="34" charset="-122"/>
                <a:cs typeface="Aptos" pitchFamily="34" charset="-120"/>
              </a:rPr>
              <a:t>Formal agreement analysis with Kendall’s tau and Krippendorff’s alpha</a:t>
            </a:r>
            <a:endParaRPr lang="en-US" sz="1550" dirty="0"/>
          </a:p>
          <a:p>
            <a:pPr marL="177800" indent="-177800">
              <a:buSzPct val="100000"/>
              <a:buChar char="•"/>
            </a:pPr>
            <a:r>
              <a:rPr lang="en-US" sz="1550" dirty="0">
                <a:solidFill>
                  <a:srgbClr val="1F2937"/>
                </a:solidFill>
                <a:latin typeface="Aptos" pitchFamily="34" charset="0"/>
                <a:ea typeface="Aptos" pitchFamily="34" charset="-122"/>
                <a:cs typeface="Aptos" pitchFamily="34" charset="-120"/>
              </a:rPr>
              <a:t>Cross-modal branches for CrowS-Pairs, BBQ, and a fairness-judge workflow</a:t>
            </a:r>
            <a:endParaRPr lang="en-US" sz="1550" dirty="0"/>
          </a:p>
          <a:p>
            <a:pPr marL="177800" indent="-177800">
              <a:buSzPct val="100000"/>
              <a:buChar char="•"/>
            </a:pPr>
            <a:r>
              <a:rPr lang="en-US" sz="1550" dirty="0">
                <a:solidFill>
                  <a:srgbClr val="1F2937"/>
                </a:solidFill>
                <a:latin typeface="Aptos" pitchFamily="34" charset="0"/>
                <a:ea typeface="Aptos" pitchFamily="34" charset="-122"/>
                <a:cs typeface="Aptos" pitchFamily="34" charset="-120"/>
              </a:rPr>
              <a:t>Reproducible artifacts, figures, dashboard outputs, and a code package</a:t>
            </a:r>
            <a:endParaRPr lang="en-US" sz="1550" dirty="0"/>
          </a:p>
        </p:txBody>
      </p:sp>
      <p:sp>
        <p:nvSpPr>
          <p:cNvPr id="13" name="Shape 11"/>
          <p:cNvSpPr/>
          <p:nvPr/>
        </p:nvSpPr>
        <p:spPr>
          <a:xfrm>
            <a:off x="685800" y="4251960"/>
            <a:ext cx="1993392" cy="1216152"/>
          </a:xfrm>
          <a:prstGeom prst="roundRect">
            <a:avLst>
              <a:gd name="adj" fmla="val 6015"/>
            </a:avLst>
          </a:prstGeom>
          <a:solidFill>
            <a:srgbClr val="2F6B9A"/>
          </a:solidFill>
          <a:ln w="12700">
            <a:solidFill>
              <a:srgbClr val="2F6B9A"/>
            </a:solidFill>
            <a:prstDash val="solid"/>
          </a:ln>
          <a:effectLst>
            <a:outerShdw blurRad="12700" dist="6350" dir="2700000" algn="bl" rotWithShape="0">
              <a:srgbClr val="000000">
                <a:alpha val="12000"/>
              </a:srgbClr>
            </a:outerShdw>
          </a:effectLst>
        </p:spPr>
        <p:txBody>
          <a:bodyPr/>
          <a:lstStyle/>
          <a:p>
            <a:endParaRPr lang="en-US"/>
          </a:p>
        </p:txBody>
      </p:sp>
      <p:sp>
        <p:nvSpPr>
          <p:cNvPr id="14" name="Text 12"/>
          <p:cNvSpPr/>
          <p:nvPr/>
        </p:nvSpPr>
        <p:spPr>
          <a:xfrm>
            <a:off x="813816" y="4398264"/>
            <a:ext cx="1737360" cy="274320"/>
          </a:xfrm>
          <a:prstGeom prst="rect">
            <a:avLst/>
          </a:prstGeom>
          <a:noFill/>
          <a:ln/>
        </p:spPr>
        <p:txBody>
          <a:bodyPr wrap="square" rtlCol="0" anchor="ctr"/>
          <a:lstStyle/>
          <a:p>
            <a:pPr marL="0" indent="0" algn="ctr">
              <a:buNone/>
            </a:pPr>
            <a:r>
              <a:rPr lang="en-US" sz="2000" b="1" dirty="0">
                <a:solidFill>
                  <a:srgbClr val="FFFFFF"/>
                </a:solidFill>
              </a:rPr>
              <a:t>3</a:t>
            </a:r>
            <a:endParaRPr lang="en-US" sz="2000" dirty="0"/>
          </a:p>
        </p:txBody>
      </p:sp>
      <p:sp>
        <p:nvSpPr>
          <p:cNvPr id="15" name="Text 13"/>
          <p:cNvSpPr/>
          <p:nvPr/>
        </p:nvSpPr>
        <p:spPr>
          <a:xfrm>
            <a:off x="777240" y="4727448"/>
            <a:ext cx="1810512" cy="256032"/>
          </a:xfrm>
          <a:prstGeom prst="rect">
            <a:avLst/>
          </a:prstGeom>
          <a:noFill/>
          <a:ln/>
        </p:spPr>
        <p:txBody>
          <a:bodyPr wrap="square" rtlCol="0" anchor="ctr"/>
          <a:lstStyle/>
          <a:p>
            <a:pPr marL="0" indent="0" algn="ctr">
              <a:buNone/>
            </a:pPr>
            <a:r>
              <a:rPr lang="en-US" sz="1050" b="1" dirty="0">
                <a:solidFill>
                  <a:srgbClr val="FFFFFF"/>
                </a:solidFill>
              </a:rPr>
              <a:t>Tabular datasets</a:t>
            </a:r>
            <a:endParaRPr lang="en-US" sz="1050" dirty="0"/>
          </a:p>
        </p:txBody>
      </p:sp>
      <p:sp>
        <p:nvSpPr>
          <p:cNvPr id="16" name="Text 14"/>
          <p:cNvSpPr/>
          <p:nvPr/>
        </p:nvSpPr>
        <p:spPr>
          <a:xfrm>
            <a:off x="758952" y="5010912"/>
            <a:ext cx="1847088" cy="329184"/>
          </a:xfrm>
          <a:prstGeom prst="rect">
            <a:avLst/>
          </a:prstGeom>
          <a:noFill/>
          <a:ln/>
        </p:spPr>
        <p:txBody>
          <a:bodyPr wrap="square" rtlCol="0" anchor="ctr"/>
          <a:lstStyle/>
          <a:p>
            <a:pPr marL="0" indent="0" algn="ctr">
              <a:buNone/>
            </a:pPr>
            <a:r>
              <a:rPr lang="en-US" sz="850" dirty="0">
                <a:solidFill>
                  <a:srgbClr val="EEF4F8"/>
                </a:solidFill>
              </a:rPr>
              <a:t>Adult · COMPAS · German Credit</a:t>
            </a:r>
            <a:endParaRPr lang="en-US" sz="850" dirty="0"/>
          </a:p>
        </p:txBody>
      </p:sp>
      <p:sp>
        <p:nvSpPr>
          <p:cNvPr id="17" name="Shape 15"/>
          <p:cNvSpPr/>
          <p:nvPr/>
        </p:nvSpPr>
        <p:spPr>
          <a:xfrm>
            <a:off x="2907792" y="4251960"/>
            <a:ext cx="1993392" cy="1216152"/>
          </a:xfrm>
          <a:prstGeom prst="roundRect">
            <a:avLst>
              <a:gd name="adj" fmla="val 6015"/>
            </a:avLst>
          </a:prstGeom>
          <a:solidFill>
            <a:srgbClr val="2A9D8F"/>
          </a:solidFill>
          <a:ln w="12700">
            <a:solidFill>
              <a:srgbClr val="2A9D8F"/>
            </a:solidFill>
            <a:prstDash val="solid"/>
          </a:ln>
          <a:effectLst>
            <a:outerShdw blurRad="12700" dist="6350" dir="2700000" algn="bl" rotWithShape="0">
              <a:srgbClr val="000000">
                <a:alpha val="12000"/>
              </a:srgbClr>
            </a:outerShdw>
          </a:effectLst>
        </p:spPr>
        <p:txBody>
          <a:bodyPr/>
          <a:lstStyle/>
          <a:p>
            <a:endParaRPr lang="en-US"/>
          </a:p>
        </p:txBody>
      </p:sp>
      <p:sp>
        <p:nvSpPr>
          <p:cNvPr id="18" name="Text 16"/>
          <p:cNvSpPr/>
          <p:nvPr/>
        </p:nvSpPr>
        <p:spPr>
          <a:xfrm>
            <a:off x="3035808" y="4398264"/>
            <a:ext cx="1737360" cy="274320"/>
          </a:xfrm>
          <a:prstGeom prst="rect">
            <a:avLst/>
          </a:prstGeom>
          <a:noFill/>
          <a:ln/>
        </p:spPr>
        <p:txBody>
          <a:bodyPr wrap="square" rtlCol="0" anchor="ctr"/>
          <a:lstStyle/>
          <a:p>
            <a:pPr marL="0" indent="0" algn="ctr">
              <a:buNone/>
            </a:pPr>
            <a:r>
              <a:rPr lang="en-US" sz="2000" b="1" dirty="0">
                <a:solidFill>
                  <a:srgbClr val="FFFFFF"/>
                </a:solidFill>
              </a:rPr>
              <a:t>7</a:t>
            </a:r>
            <a:endParaRPr lang="en-US" sz="2000" dirty="0"/>
          </a:p>
        </p:txBody>
      </p:sp>
      <p:sp>
        <p:nvSpPr>
          <p:cNvPr id="19" name="Text 17"/>
          <p:cNvSpPr/>
          <p:nvPr/>
        </p:nvSpPr>
        <p:spPr>
          <a:xfrm>
            <a:off x="2999232" y="4727448"/>
            <a:ext cx="1810512" cy="256032"/>
          </a:xfrm>
          <a:prstGeom prst="rect">
            <a:avLst/>
          </a:prstGeom>
          <a:noFill/>
          <a:ln/>
        </p:spPr>
        <p:txBody>
          <a:bodyPr wrap="square" rtlCol="0" anchor="ctr"/>
          <a:lstStyle/>
          <a:p>
            <a:pPr marL="0" indent="0" algn="ctr">
              <a:buNone/>
            </a:pPr>
            <a:r>
              <a:rPr lang="en-US" sz="1050" b="1" dirty="0">
                <a:solidFill>
                  <a:srgbClr val="FFFFFF"/>
                </a:solidFill>
              </a:rPr>
              <a:t>Classical models</a:t>
            </a:r>
            <a:endParaRPr lang="en-US" sz="1050" dirty="0"/>
          </a:p>
        </p:txBody>
      </p:sp>
      <p:sp>
        <p:nvSpPr>
          <p:cNvPr id="20" name="Text 18"/>
          <p:cNvSpPr/>
          <p:nvPr/>
        </p:nvSpPr>
        <p:spPr>
          <a:xfrm>
            <a:off x="2980944" y="5010912"/>
            <a:ext cx="1847088" cy="329184"/>
          </a:xfrm>
          <a:prstGeom prst="rect">
            <a:avLst/>
          </a:prstGeom>
          <a:noFill/>
          <a:ln/>
        </p:spPr>
        <p:txBody>
          <a:bodyPr wrap="square" rtlCol="0" anchor="ctr"/>
          <a:lstStyle/>
          <a:p>
            <a:pPr marL="0" indent="0" algn="ctr">
              <a:buNone/>
            </a:pPr>
            <a:r>
              <a:rPr lang="en-US" sz="850" dirty="0">
                <a:solidFill>
                  <a:srgbClr val="EEF4F8"/>
                </a:solidFill>
              </a:rPr>
              <a:t>LR · RF · DT · SVM · KNN · GB · GNB</a:t>
            </a:r>
            <a:endParaRPr lang="en-US" sz="850" dirty="0"/>
          </a:p>
        </p:txBody>
      </p:sp>
      <p:sp>
        <p:nvSpPr>
          <p:cNvPr id="21" name="Shape 19"/>
          <p:cNvSpPr/>
          <p:nvPr/>
        </p:nvSpPr>
        <p:spPr>
          <a:xfrm>
            <a:off x="5129784" y="4251960"/>
            <a:ext cx="1993392" cy="1216152"/>
          </a:xfrm>
          <a:prstGeom prst="roundRect">
            <a:avLst>
              <a:gd name="adj" fmla="val 6015"/>
            </a:avLst>
          </a:prstGeom>
          <a:solidFill>
            <a:srgbClr val="D9A441"/>
          </a:solidFill>
          <a:ln w="12700">
            <a:solidFill>
              <a:srgbClr val="D9A441"/>
            </a:solidFill>
            <a:prstDash val="solid"/>
          </a:ln>
          <a:effectLst>
            <a:outerShdw blurRad="12700" dist="6350" dir="2700000" algn="bl" rotWithShape="0">
              <a:srgbClr val="000000">
                <a:alpha val="12000"/>
              </a:srgbClr>
            </a:outerShdw>
          </a:effectLst>
        </p:spPr>
        <p:txBody>
          <a:bodyPr/>
          <a:lstStyle/>
          <a:p>
            <a:endParaRPr lang="en-US"/>
          </a:p>
        </p:txBody>
      </p:sp>
      <p:sp>
        <p:nvSpPr>
          <p:cNvPr id="22" name="Text 20"/>
          <p:cNvSpPr/>
          <p:nvPr/>
        </p:nvSpPr>
        <p:spPr>
          <a:xfrm>
            <a:off x="5257800" y="4398264"/>
            <a:ext cx="1737360" cy="274320"/>
          </a:xfrm>
          <a:prstGeom prst="rect">
            <a:avLst/>
          </a:prstGeom>
          <a:noFill/>
          <a:ln/>
        </p:spPr>
        <p:txBody>
          <a:bodyPr wrap="square" rtlCol="0" anchor="ctr"/>
          <a:lstStyle/>
          <a:p>
            <a:pPr marL="0" indent="0" algn="ctr">
              <a:buNone/>
            </a:pPr>
            <a:r>
              <a:rPr lang="en-US" sz="2000" b="1" dirty="0">
                <a:solidFill>
                  <a:srgbClr val="FFFFFF"/>
                </a:solidFill>
              </a:rPr>
              <a:t>3</a:t>
            </a:r>
            <a:endParaRPr lang="en-US" sz="2000" dirty="0"/>
          </a:p>
        </p:txBody>
      </p:sp>
      <p:sp>
        <p:nvSpPr>
          <p:cNvPr id="23" name="Text 21"/>
          <p:cNvSpPr/>
          <p:nvPr/>
        </p:nvSpPr>
        <p:spPr>
          <a:xfrm>
            <a:off x="5221224" y="4727448"/>
            <a:ext cx="1810512" cy="256032"/>
          </a:xfrm>
          <a:prstGeom prst="rect">
            <a:avLst/>
          </a:prstGeom>
          <a:noFill/>
          <a:ln/>
        </p:spPr>
        <p:txBody>
          <a:bodyPr wrap="square" rtlCol="0" anchor="ctr"/>
          <a:lstStyle/>
          <a:p>
            <a:pPr marL="0" indent="0" algn="ctr">
              <a:buNone/>
            </a:pPr>
            <a:r>
              <a:rPr lang="en-US" sz="1050" b="1" dirty="0">
                <a:solidFill>
                  <a:srgbClr val="FFFFFF"/>
                </a:solidFill>
              </a:rPr>
              <a:t>Core fairness metrics</a:t>
            </a:r>
            <a:endParaRPr lang="en-US" sz="1050" dirty="0"/>
          </a:p>
        </p:txBody>
      </p:sp>
      <p:sp>
        <p:nvSpPr>
          <p:cNvPr id="24" name="Text 22"/>
          <p:cNvSpPr/>
          <p:nvPr/>
        </p:nvSpPr>
        <p:spPr>
          <a:xfrm>
            <a:off x="5202936" y="5010912"/>
            <a:ext cx="1847088" cy="329184"/>
          </a:xfrm>
          <a:prstGeom prst="rect">
            <a:avLst/>
          </a:prstGeom>
          <a:noFill/>
          <a:ln/>
        </p:spPr>
        <p:txBody>
          <a:bodyPr wrap="square" rtlCol="0" anchor="ctr"/>
          <a:lstStyle/>
          <a:p>
            <a:pPr marL="0" indent="0" algn="ctr">
              <a:buNone/>
            </a:pPr>
            <a:r>
              <a:rPr lang="en-US" sz="850" dirty="0">
                <a:solidFill>
                  <a:srgbClr val="EEF4F8"/>
                </a:solidFill>
              </a:rPr>
              <a:t>DP · EO · PP</a:t>
            </a:r>
            <a:endParaRPr lang="en-US" sz="850" dirty="0"/>
          </a:p>
        </p:txBody>
      </p:sp>
      <p:sp>
        <p:nvSpPr>
          <p:cNvPr id="25" name="Shape 23"/>
          <p:cNvSpPr/>
          <p:nvPr/>
        </p:nvSpPr>
        <p:spPr>
          <a:xfrm>
            <a:off x="7351776" y="4251960"/>
            <a:ext cx="1993392" cy="1216152"/>
          </a:xfrm>
          <a:prstGeom prst="roundRect">
            <a:avLst>
              <a:gd name="adj" fmla="val 6015"/>
            </a:avLst>
          </a:prstGeom>
          <a:solidFill>
            <a:srgbClr val="E38B2C"/>
          </a:solidFill>
          <a:ln w="12700">
            <a:solidFill>
              <a:srgbClr val="E38B2C"/>
            </a:solidFill>
            <a:prstDash val="solid"/>
          </a:ln>
          <a:effectLst>
            <a:outerShdw blurRad="12700" dist="6350" dir="2700000" algn="bl" rotWithShape="0">
              <a:srgbClr val="000000">
                <a:alpha val="12000"/>
              </a:srgbClr>
            </a:outerShdw>
          </a:effectLst>
        </p:spPr>
        <p:txBody>
          <a:bodyPr/>
          <a:lstStyle/>
          <a:p>
            <a:endParaRPr lang="en-US"/>
          </a:p>
        </p:txBody>
      </p:sp>
      <p:sp>
        <p:nvSpPr>
          <p:cNvPr id="26" name="Text 24"/>
          <p:cNvSpPr/>
          <p:nvPr/>
        </p:nvSpPr>
        <p:spPr>
          <a:xfrm>
            <a:off x="7479792" y="4398264"/>
            <a:ext cx="1737360" cy="274320"/>
          </a:xfrm>
          <a:prstGeom prst="rect">
            <a:avLst/>
          </a:prstGeom>
          <a:noFill/>
          <a:ln/>
        </p:spPr>
        <p:txBody>
          <a:bodyPr wrap="square" rtlCol="0" anchor="ctr"/>
          <a:lstStyle/>
          <a:p>
            <a:pPr marL="0" indent="0" algn="ctr">
              <a:buNone/>
            </a:pPr>
            <a:r>
              <a:rPr lang="en-US" sz="2000" b="1" dirty="0">
                <a:solidFill>
                  <a:srgbClr val="FFFFFF"/>
                </a:solidFill>
              </a:rPr>
              <a:t>2</a:t>
            </a:r>
            <a:endParaRPr lang="en-US" sz="2000" dirty="0"/>
          </a:p>
        </p:txBody>
      </p:sp>
      <p:sp>
        <p:nvSpPr>
          <p:cNvPr id="27" name="Text 25"/>
          <p:cNvSpPr/>
          <p:nvPr/>
        </p:nvSpPr>
        <p:spPr>
          <a:xfrm>
            <a:off x="7443216" y="4727448"/>
            <a:ext cx="1810512" cy="256032"/>
          </a:xfrm>
          <a:prstGeom prst="rect">
            <a:avLst/>
          </a:prstGeom>
          <a:noFill/>
          <a:ln/>
        </p:spPr>
        <p:txBody>
          <a:bodyPr wrap="square" rtlCol="0" anchor="ctr"/>
          <a:lstStyle/>
          <a:p>
            <a:pPr marL="0" indent="0" algn="ctr">
              <a:buNone/>
            </a:pPr>
            <a:r>
              <a:rPr lang="en-US" sz="1050" b="1" dirty="0">
                <a:solidFill>
                  <a:srgbClr val="FFFFFF"/>
                </a:solidFill>
              </a:rPr>
              <a:t>Agreement statistics</a:t>
            </a:r>
            <a:endParaRPr lang="en-US" sz="1050" dirty="0"/>
          </a:p>
        </p:txBody>
      </p:sp>
      <p:sp>
        <p:nvSpPr>
          <p:cNvPr id="28" name="Text 26"/>
          <p:cNvSpPr/>
          <p:nvPr/>
        </p:nvSpPr>
        <p:spPr>
          <a:xfrm>
            <a:off x="7424928" y="5010912"/>
            <a:ext cx="1847088" cy="329184"/>
          </a:xfrm>
          <a:prstGeom prst="rect">
            <a:avLst/>
          </a:prstGeom>
          <a:noFill/>
          <a:ln/>
        </p:spPr>
        <p:txBody>
          <a:bodyPr wrap="square" rtlCol="0" anchor="ctr"/>
          <a:lstStyle/>
          <a:p>
            <a:pPr marL="0" indent="0" algn="ctr">
              <a:buNone/>
            </a:pPr>
            <a:r>
              <a:rPr lang="en-US" sz="850" dirty="0">
                <a:solidFill>
                  <a:srgbClr val="EEF4F8"/>
                </a:solidFill>
              </a:rPr>
              <a:t>Kendall’s τ · Krippendorff’s α</a:t>
            </a:r>
            <a:endParaRPr lang="en-US" sz="850" dirty="0"/>
          </a:p>
        </p:txBody>
      </p:sp>
      <p:sp>
        <p:nvSpPr>
          <p:cNvPr id="29" name="Shape 27"/>
          <p:cNvSpPr/>
          <p:nvPr/>
        </p:nvSpPr>
        <p:spPr>
          <a:xfrm>
            <a:off x="9573768" y="4251960"/>
            <a:ext cx="1993392" cy="1216152"/>
          </a:xfrm>
          <a:prstGeom prst="roundRect">
            <a:avLst>
              <a:gd name="adj" fmla="val 6015"/>
            </a:avLst>
          </a:prstGeom>
          <a:solidFill>
            <a:srgbClr val="17324D"/>
          </a:solidFill>
          <a:ln w="12700">
            <a:solidFill>
              <a:srgbClr val="17324D"/>
            </a:solidFill>
            <a:prstDash val="solid"/>
          </a:ln>
          <a:effectLst>
            <a:outerShdw blurRad="12700" dist="6350" dir="2700000" algn="bl" rotWithShape="0">
              <a:srgbClr val="000000">
                <a:alpha val="12000"/>
              </a:srgbClr>
            </a:outerShdw>
          </a:effectLst>
        </p:spPr>
        <p:txBody>
          <a:bodyPr/>
          <a:lstStyle/>
          <a:p>
            <a:endParaRPr lang="en-US"/>
          </a:p>
        </p:txBody>
      </p:sp>
      <p:sp>
        <p:nvSpPr>
          <p:cNvPr id="30" name="Text 28"/>
          <p:cNvSpPr/>
          <p:nvPr/>
        </p:nvSpPr>
        <p:spPr>
          <a:xfrm>
            <a:off x="9701784" y="4398264"/>
            <a:ext cx="1737360" cy="274320"/>
          </a:xfrm>
          <a:prstGeom prst="rect">
            <a:avLst/>
          </a:prstGeom>
          <a:noFill/>
          <a:ln/>
        </p:spPr>
        <p:txBody>
          <a:bodyPr wrap="square" rtlCol="0" anchor="ctr"/>
          <a:lstStyle/>
          <a:p>
            <a:pPr marL="0" indent="0" algn="ctr">
              <a:buNone/>
            </a:pPr>
            <a:r>
              <a:rPr lang="en-US" sz="2000" b="1" dirty="0">
                <a:solidFill>
                  <a:srgbClr val="FFFFFF"/>
                </a:solidFill>
              </a:rPr>
              <a:t>3</a:t>
            </a:r>
            <a:endParaRPr lang="en-US" sz="2000" dirty="0"/>
          </a:p>
        </p:txBody>
      </p:sp>
      <p:sp>
        <p:nvSpPr>
          <p:cNvPr id="31" name="Text 29"/>
          <p:cNvSpPr/>
          <p:nvPr/>
        </p:nvSpPr>
        <p:spPr>
          <a:xfrm>
            <a:off x="9665208" y="4727448"/>
            <a:ext cx="1810512" cy="256032"/>
          </a:xfrm>
          <a:prstGeom prst="rect">
            <a:avLst/>
          </a:prstGeom>
          <a:noFill/>
          <a:ln/>
        </p:spPr>
        <p:txBody>
          <a:bodyPr wrap="square" rtlCol="0" anchor="ctr"/>
          <a:lstStyle/>
          <a:p>
            <a:pPr marL="0" indent="0" algn="ctr">
              <a:buNone/>
            </a:pPr>
            <a:r>
              <a:rPr lang="en-US" sz="1050" b="1" dirty="0">
                <a:solidFill>
                  <a:srgbClr val="FFFFFF"/>
                </a:solidFill>
              </a:rPr>
              <a:t>Cross-modal branches</a:t>
            </a:r>
            <a:endParaRPr lang="en-US" sz="1050" dirty="0"/>
          </a:p>
        </p:txBody>
      </p:sp>
      <p:sp>
        <p:nvSpPr>
          <p:cNvPr id="32" name="Text 30"/>
          <p:cNvSpPr/>
          <p:nvPr/>
        </p:nvSpPr>
        <p:spPr>
          <a:xfrm>
            <a:off x="9646920" y="5010912"/>
            <a:ext cx="1847088" cy="329184"/>
          </a:xfrm>
          <a:prstGeom prst="rect">
            <a:avLst/>
          </a:prstGeom>
          <a:noFill/>
          <a:ln/>
        </p:spPr>
        <p:txBody>
          <a:bodyPr wrap="square" rtlCol="0" anchor="ctr"/>
          <a:lstStyle/>
          <a:p>
            <a:pPr marL="0" indent="0" algn="ctr">
              <a:buNone/>
            </a:pPr>
            <a:r>
              <a:rPr lang="en-US" sz="850" dirty="0">
                <a:solidFill>
                  <a:srgbClr val="EEF4F8"/>
                </a:solidFill>
              </a:rPr>
              <a:t>CrowS-Pairs · BBQ · fairness judge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How FairEval works</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4</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Shape 6"/>
          <p:cNvSpPr/>
          <p:nvPr/>
        </p:nvSpPr>
        <p:spPr>
          <a:xfrm>
            <a:off x="822960" y="1463040"/>
            <a:ext cx="1691640" cy="749808"/>
          </a:xfrm>
          <a:prstGeom prst="roundRect">
            <a:avLst>
              <a:gd name="adj" fmla="val 7317"/>
            </a:avLst>
          </a:prstGeom>
          <a:solidFill>
            <a:srgbClr val="EAF2F8"/>
          </a:solidFill>
          <a:ln w="12700">
            <a:solidFill>
              <a:srgbClr val="D7DEE7"/>
            </a:solidFill>
            <a:prstDash val="solid"/>
          </a:ln>
        </p:spPr>
        <p:txBody>
          <a:bodyPr/>
          <a:lstStyle/>
          <a:p>
            <a:endParaRPr lang="en-US"/>
          </a:p>
        </p:txBody>
      </p:sp>
      <p:sp>
        <p:nvSpPr>
          <p:cNvPr id="9" name="Text 7"/>
          <p:cNvSpPr/>
          <p:nvPr/>
        </p:nvSpPr>
        <p:spPr>
          <a:xfrm>
            <a:off x="896112" y="1700784"/>
            <a:ext cx="1545336" cy="256032"/>
          </a:xfrm>
          <a:prstGeom prst="rect">
            <a:avLst/>
          </a:prstGeom>
          <a:noFill/>
          <a:ln/>
        </p:spPr>
        <p:txBody>
          <a:bodyPr wrap="square" rtlCol="0" anchor="ctr"/>
          <a:lstStyle/>
          <a:p>
            <a:pPr marL="0" indent="0" algn="ctr">
              <a:buNone/>
            </a:pPr>
            <a:r>
              <a:rPr lang="en-US" sz="1700" b="1" dirty="0">
                <a:solidFill>
                  <a:srgbClr val="1F2937"/>
                </a:solidFill>
              </a:rPr>
              <a:t>Datasets</a:t>
            </a:r>
            <a:endParaRPr lang="en-US" sz="1700" dirty="0"/>
          </a:p>
        </p:txBody>
      </p:sp>
      <p:sp>
        <p:nvSpPr>
          <p:cNvPr id="10" name="Shape 8"/>
          <p:cNvSpPr/>
          <p:nvPr/>
        </p:nvSpPr>
        <p:spPr>
          <a:xfrm>
            <a:off x="2615184" y="1664208"/>
            <a:ext cx="347472" cy="292608"/>
          </a:xfrm>
          <a:prstGeom prst="chevron">
            <a:avLst/>
          </a:prstGeom>
          <a:solidFill>
            <a:srgbClr val="17324D"/>
          </a:solidFill>
          <a:ln w="12700">
            <a:solidFill>
              <a:srgbClr val="17324D"/>
            </a:solidFill>
            <a:prstDash val="solid"/>
          </a:ln>
        </p:spPr>
        <p:txBody>
          <a:bodyPr/>
          <a:lstStyle/>
          <a:p>
            <a:endParaRPr lang="en-US"/>
          </a:p>
        </p:txBody>
      </p:sp>
      <p:sp>
        <p:nvSpPr>
          <p:cNvPr id="11" name="Shape 9"/>
          <p:cNvSpPr/>
          <p:nvPr/>
        </p:nvSpPr>
        <p:spPr>
          <a:xfrm>
            <a:off x="3063240" y="1463040"/>
            <a:ext cx="1691640" cy="749808"/>
          </a:xfrm>
          <a:prstGeom prst="roundRect">
            <a:avLst>
              <a:gd name="adj" fmla="val 7317"/>
            </a:avLst>
          </a:prstGeom>
          <a:solidFill>
            <a:srgbClr val="EAF6EE"/>
          </a:solidFill>
          <a:ln w="12700">
            <a:solidFill>
              <a:srgbClr val="D7DEE7"/>
            </a:solidFill>
            <a:prstDash val="solid"/>
          </a:ln>
        </p:spPr>
        <p:txBody>
          <a:bodyPr/>
          <a:lstStyle/>
          <a:p>
            <a:endParaRPr lang="en-US"/>
          </a:p>
        </p:txBody>
      </p:sp>
      <p:sp>
        <p:nvSpPr>
          <p:cNvPr id="12" name="Text 10"/>
          <p:cNvSpPr/>
          <p:nvPr/>
        </p:nvSpPr>
        <p:spPr>
          <a:xfrm>
            <a:off x="3029712" y="1700784"/>
            <a:ext cx="1652016" cy="256029"/>
          </a:xfrm>
          <a:prstGeom prst="rect">
            <a:avLst/>
          </a:prstGeom>
          <a:noFill/>
          <a:ln/>
        </p:spPr>
        <p:txBody>
          <a:bodyPr wrap="square" rtlCol="0" anchor="ctr"/>
          <a:lstStyle/>
          <a:p>
            <a:pPr marL="0" indent="0" algn="ctr">
              <a:buNone/>
            </a:pPr>
            <a:r>
              <a:rPr lang="en-US" sz="1700" b="1" dirty="0">
                <a:solidFill>
                  <a:srgbClr val="1F2937"/>
                </a:solidFill>
              </a:rPr>
              <a:t>Preprocessing</a:t>
            </a:r>
            <a:endParaRPr lang="en-US" sz="1700" dirty="0"/>
          </a:p>
        </p:txBody>
      </p:sp>
      <p:sp>
        <p:nvSpPr>
          <p:cNvPr id="13" name="Shape 11"/>
          <p:cNvSpPr/>
          <p:nvPr/>
        </p:nvSpPr>
        <p:spPr>
          <a:xfrm>
            <a:off x="4855464" y="1664208"/>
            <a:ext cx="347472" cy="292608"/>
          </a:xfrm>
          <a:prstGeom prst="chevron">
            <a:avLst/>
          </a:prstGeom>
          <a:solidFill>
            <a:srgbClr val="17324D"/>
          </a:solidFill>
          <a:ln w="12700">
            <a:solidFill>
              <a:srgbClr val="17324D"/>
            </a:solidFill>
            <a:prstDash val="solid"/>
          </a:ln>
        </p:spPr>
        <p:txBody>
          <a:bodyPr/>
          <a:lstStyle/>
          <a:p>
            <a:endParaRPr lang="en-US"/>
          </a:p>
        </p:txBody>
      </p:sp>
      <p:sp>
        <p:nvSpPr>
          <p:cNvPr id="14" name="Shape 12"/>
          <p:cNvSpPr/>
          <p:nvPr/>
        </p:nvSpPr>
        <p:spPr>
          <a:xfrm>
            <a:off x="5303520" y="1463040"/>
            <a:ext cx="1691640" cy="749808"/>
          </a:xfrm>
          <a:prstGeom prst="roundRect">
            <a:avLst>
              <a:gd name="adj" fmla="val 7317"/>
            </a:avLst>
          </a:prstGeom>
          <a:solidFill>
            <a:srgbClr val="FBF3E3"/>
          </a:solidFill>
          <a:ln w="12700">
            <a:solidFill>
              <a:srgbClr val="D7DEE7"/>
            </a:solidFill>
            <a:prstDash val="solid"/>
          </a:ln>
        </p:spPr>
        <p:txBody>
          <a:bodyPr/>
          <a:lstStyle/>
          <a:p>
            <a:endParaRPr lang="en-US"/>
          </a:p>
        </p:txBody>
      </p:sp>
      <p:sp>
        <p:nvSpPr>
          <p:cNvPr id="15" name="Text 13"/>
          <p:cNvSpPr/>
          <p:nvPr/>
        </p:nvSpPr>
        <p:spPr>
          <a:xfrm>
            <a:off x="5376672" y="1700784"/>
            <a:ext cx="1545336" cy="256032"/>
          </a:xfrm>
          <a:prstGeom prst="rect">
            <a:avLst/>
          </a:prstGeom>
          <a:noFill/>
          <a:ln/>
        </p:spPr>
        <p:txBody>
          <a:bodyPr wrap="square" rtlCol="0" anchor="ctr"/>
          <a:lstStyle/>
          <a:p>
            <a:pPr marL="0" indent="0" algn="ctr">
              <a:buNone/>
            </a:pPr>
            <a:r>
              <a:rPr lang="en-US" sz="1700" b="1" dirty="0">
                <a:solidFill>
                  <a:srgbClr val="1F2937"/>
                </a:solidFill>
              </a:rPr>
              <a:t>Models</a:t>
            </a:r>
            <a:endParaRPr lang="en-US" sz="1700" dirty="0"/>
          </a:p>
        </p:txBody>
      </p:sp>
      <p:sp>
        <p:nvSpPr>
          <p:cNvPr id="16" name="Shape 14"/>
          <p:cNvSpPr/>
          <p:nvPr/>
        </p:nvSpPr>
        <p:spPr>
          <a:xfrm>
            <a:off x="7095744" y="1664208"/>
            <a:ext cx="347472" cy="292608"/>
          </a:xfrm>
          <a:prstGeom prst="chevron">
            <a:avLst/>
          </a:prstGeom>
          <a:solidFill>
            <a:srgbClr val="17324D"/>
          </a:solidFill>
          <a:ln w="12700">
            <a:solidFill>
              <a:srgbClr val="17324D"/>
            </a:solidFill>
            <a:prstDash val="solid"/>
          </a:ln>
        </p:spPr>
        <p:txBody>
          <a:bodyPr/>
          <a:lstStyle/>
          <a:p>
            <a:endParaRPr lang="en-US"/>
          </a:p>
        </p:txBody>
      </p:sp>
      <p:sp>
        <p:nvSpPr>
          <p:cNvPr id="17" name="Shape 15"/>
          <p:cNvSpPr/>
          <p:nvPr/>
        </p:nvSpPr>
        <p:spPr>
          <a:xfrm>
            <a:off x="7543800" y="1463040"/>
            <a:ext cx="1691640" cy="749808"/>
          </a:xfrm>
          <a:prstGeom prst="roundRect">
            <a:avLst>
              <a:gd name="adj" fmla="val 7317"/>
            </a:avLst>
          </a:prstGeom>
          <a:solidFill>
            <a:srgbClr val="F3EAFE"/>
          </a:solidFill>
          <a:ln w="12700">
            <a:solidFill>
              <a:srgbClr val="D7DEE7"/>
            </a:solidFill>
            <a:prstDash val="solid"/>
          </a:ln>
        </p:spPr>
        <p:txBody>
          <a:bodyPr/>
          <a:lstStyle/>
          <a:p>
            <a:endParaRPr lang="en-US"/>
          </a:p>
        </p:txBody>
      </p:sp>
      <p:sp>
        <p:nvSpPr>
          <p:cNvPr id="18" name="Text 16"/>
          <p:cNvSpPr/>
          <p:nvPr/>
        </p:nvSpPr>
        <p:spPr>
          <a:xfrm>
            <a:off x="7616952" y="1700784"/>
            <a:ext cx="1545336" cy="256032"/>
          </a:xfrm>
          <a:prstGeom prst="rect">
            <a:avLst/>
          </a:prstGeom>
          <a:noFill/>
          <a:ln/>
        </p:spPr>
        <p:txBody>
          <a:bodyPr wrap="square" rtlCol="0" anchor="ctr"/>
          <a:lstStyle/>
          <a:p>
            <a:pPr marL="0" indent="0" algn="ctr">
              <a:buNone/>
            </a:pPr>
            <a:r>
              <a:rPr lang="en-US" sz="1700" b="1" dirty="0">
                <a:solidFill>
                  <a:srgbClr val="1F2937"/>
                </a:solidFill>
              </a:rPr>
              <a:t>Metrics &amp;</a:t>
            </a:r>
            <a:endParaRPr lang="en-US" sz="1700" dirty="0"/>
          </a:p>
          <a:p>
            <a:pPr marL="0" indent="0" algn="ctr">
              <a:buNone/>
            </a:pPr>
            <a:r>
              <a:rPr lang="en-US" sz="1700" b="1" dirty="0">
                <a:solidFill>
                  <a:srgbClr val="1F2937"/>
                </a:solidFill>
              </a:rPr>
              <a:t>Agreement</a:t>
            </a:r>
            <a:endParaRPr lang="en-US" sz="1700" dirty="0"/>
          </a:p>
        </p:txBody>
      </p:sp>
      <p:sp>
        <p:nvSpPr>
          <p:cNvPr id="19" name="Shape 17"/>
          <p:cNvSpPr/>
          <p:nvPr/>
        </p:nvSpPr>
        <p:spPr>
          <a:xfrm>
            <a:off x="9336024" y="1664208"/>
            <a:ext cx="347472" cy="292608"/>
          </a:xfrm>
          <a:prstGeom prst="chevron">
            <a:avLst/>
          </a:prstGeom>
          <a:solidFill>
            <a:srgbClr val="17324D"/>
          </a:solidFill>
          <a:ln w="12700">
            <a:solidFill>
              <a:srgbClr val="17324D"/>
            </a:solidFill>
            <a:prstDash val="solid"/>
          </a:ln>
        </p:spPr>
        <p:txBody>
          <a:bodyPr/>
          <a:lstStyle/>
          <a:p>
            <a:endParaRPr lang="en-US"/>
          </a:p>
        </p:txBody>
      </p:sp>
      <p:sp>
        <p:nvSpPr>
          <p:cNvPr id="20" name="Shape 18"/>
          <p:cNvSpPr/>
          <p:nvPr/>
        </p:nvSpPr>
        <p:spPr>
          <a:xfrm>
            <a:off x="9784080" y="1463040"/>
            <a:ext cx="1691640" cy="749808"/>
          </a:xfrm>
          <a:prstGeom prst="roundRect">
            <a:avLst>
              <a:gd name="adj" fmla="val 7317"/>
            </a:avLst>
          </a:prstGeom>
          <a:solidFill>
            <a:srgbClr val="EAF2F8"/>
          </a:solidFill>
          <a:ln w="12700">
            <a:solidFill>
              <a:srgbClr val="D7DEE7"/>
            </a:solidFill>
            <a:prstDash val="solid"/>
          </a:ln>
        </p:spPr>
        <p:txBody>
          <a:bodyPr/>
          <a:lstStyle/>
          <a:p>
            <a:endParaRPr lang="en-US"/>
          </a:p>
        </p:txBody>
      </p:sp>
      <p:sp>
        <p:nvSpPr>
          <p:cNvPr id="21" name="Text 19"/>
          <p:cNvSpPr/>
          <p:nvPr/>
        </p:nvSpPr>
        <p:spPr>
          <a:xfrm>
            <a:off x="9857232" y="1700784"/>
            <a:ext cx="1545336" cy="256032"/>
          </a:xfrm>
          <a:prstGeom prst="rect">
            <a:avLst/>
          </a:prstGeom>
          <a:noFill/>
          <a:ln/>
        </p:spPr>
        <p:txBody>
          <a:bodyPr wrap="square" rtlCol="0" anchor="ctr"/>
          <a:lstStyle/>
          <a:p>
            <a:pPr marL="0" indent="0" algn="ctr">
              <a:buNone/>
            </a:pPr>
            <a:r>
              <a:rPr lang="en-US" sz="1700" b="1" dirty="0">
                <a:solidFill>
                  <a:srgbClr val="1F2937"/>
                </a:solidFill>
              </a:rPr>
              <a:t>Artifacts /</a:t>
            </a:r>
            <a:endParaRPr lang="en-US" sz="1700" dirty="0"/>
          </a:p>
          <a:p>
            <a:pPr marL="0" indent="0" algn="ctr">
              <a:buNone/>
            </a:pPr>
            <a:r>
              <a:rPr lang="en-US" sz="1700" b="1" dirty="0">
                <a:solidFill>
                  <a:srgbClr val="1F2937"/>
                </a:solidFill>
              </a:rPr>
              <a:t>Dashboard</a:t>
            </a:r>
            <a:endParaRPr lang="en-US" sz="1700" dirty="0"/>
          </a:p>
        </p:txBody>
      </p:sp>
      <p:sp>
        <p:nvSpPr>
          <p:cNvPr id="22" name="Text 20"/>
          <p:cNvSpPr/>
          <p:nvPr/>
        </p:nvSpPr>
        <p:spPr>
          <a:xfrm>
            <a:off x="822960" y="2743200"/>
            <a:ext cx="6217920" cy="2331720"/>
          </a:xfrm>
          <a:prstGeom prst="rect">
            <a:avLst/>
          </a:prstGeom>
          <a:noFill/>
          <a:ln/>
        </p:spPr>
        <p:txBody>
          <a:bodyPr wrap="square" lIns="25400" tIns="25400" rIns="25400" bIns="25400" rtlCol="0" anchor="t"/>
          <a:lstStyle/>
          <a:p>
            <a:pPr marL="177800" indent="-177800">
              <a:buSzPct val="100000"/>
              <a:buChar char="•"/>
            </a:pPr>
            <a:r>
              <a:rPr lang="en-US" sz="1600" dirty="0">
                <a:solidFill>
                  <a:srgbClr val="1F2937"/>
                </a:solidFill>
                <a:latin typeface="Aptos" pitchFamily="34" charset="0"/>
                <a:ea typeface="Aptos" pitchFamily="34" charset="-122"/>
                <a:cs typeface="Aptos" pitchFamily="34" charset="-120"/>
              </a:rPr>
              <a:t>Validate dataset schemas and sensitive-attribute fields at ingestion time.</a:t>
            </a:r>
            <a:endParaRPr lang="en-US" sz="1600" dirty="0"/>
          </a:p>
          <a:p>
            <a:pPr marL="177800" indent="-177800">
              <a:buSzPct val="100000"/>
              <a:buChar char="•"/>
            </a:pPr>
            <a:r>
              <a:rPr lang="en-US" sz="1600" dirty="0">
                <a:solidFill>
                  <a:srgbClr val="1F2937"/>
                </a:solidFill>
                <a:latin typeface="Aptos" pitchFamily="34" charset="0"/>
                <a:ea typeface="Aptos" pitchFamily="34" charset="-122"/>
                <a:cs typeface="Aptos" pitchFamily="34" charset="-120"/>
              </a:rPr>
              <a:t>Preprocess features while preserving the sensitive attribute for downstream auditing.</a:t>
            </a:r>
            <a:endParaRPr lang="en-US" sz="1600" dirty="0"/>
          </a:p>
          <a:p>
            <a:pPr marL="177800" indent="-177800">
              <a:buSzPct val="100000"/>
              <a:buChar char="•"/>
            </a:pPr>
            <a:r>
              <a:rPr lang="en-US" sz="1600" dirty="0">
                <a:solidFill>
                  <a:srgbClr val="1F2937"/>
                </a:solidFill>
                <a:latin typeface="Aptos" pitchFamily="34" charset="0"/>
                <a:ea typeface="Aptos" pitchFamily="34" charset="-122"/>
                <a:cs typeface="Aptos" pitchFamily="34" charset="-120"/>
              </a:rPr>
              <a:t>Train multiple model families under a consistent benchmark protocol.</a:t>
            </a:r>
            <a:endParaRPr lang="en-US" sz="1600" dirty="0"/>
          </a:p>
          <a:p>
            <a:pPr marL="177800" indent="-177800">
              <a:buSzPct val="100000"/>
              <a:buChar char="•"/>
            </a:pPr>
            <a:r>
              <a:rPr lang="en-US" sz="1600" dirty="0">
                <a:solidFill>
                  <a:srgbClr val="1F2937"/>
                </a:solidFill>
                <a:latin typeface="Aptos" pitchFamily="34" charset="0"/>
                <a:ea typeface="Aptos" pitchFamily="34" charset="-122"/>
                <a:cs typeface="Aptos" pitchFamily="34" charset="-120"/>
              </a:rPr>
              <a:t>Compute accuracy, fairness metrics, and inter-metric agreement statistics.</a:t>
            </a:r>
            <a:endParaRPr lang="en-US" sz="1600" dirty="0"/>
          </a:p>
          <a:p>
            <a:pPr marL="177800" indent="-177800">
              <a:buSzPct val="100000"/>
              <a:buChar char="•"/>
            </a:pPr>
            <a:r>
              <a:rPr lang="en-US" sz="1600" dirty="0">
                <a:solidFill>
                  <a:srgbClr val="1F2937"/>
                </a:solidFill>
                <a:latin typeface="Aptos" pitchFamily="34" charset="0"/>
                <a:ea typeface="Aptos" pitchFamily="34" charset="-122"/>
                <a:cs typeface="Aptos" pitchFamily="34" charset="-120"/>
              </a:rPr>
              <a:t>Write results, figures, and dashboard artifacts from the same output directory.</a:t>
            </a:r>
            <a:endParaRPr lang="en-US" sz="1600" dirty="0"/>
          </a:p>
        </p:txBody>
      </p:sp>
      <p:sp>
        <p:nvSpPr>
          <p:cNvPr id="23" name="Shape 21"/>
          <p:cNvSpPr/>
          <p:nvPr/>
        </p:nvSpPr>
        <p:spPr>
          <a:xfrm>
            <a:off x="7498080" y="2788920"/>
            <a:ext cx="3886200" cy="2240280"/>
          </a:xfrm>
          <a:prstGeom prst="roundRect">
            <a:avLst>
              <a:gd name="adj" fmla="val 2449"/>
            </a:avLst>
          </a:prstGeom>
          <a:solidFill>
            <a:srgbClr val="FFFFFF"/>
          </a:solidFill>
          <a:ln w="12700">
            <a:solidFill>
              <a:srgbClr val="D7DEE7"/>
            </a:solidFill>
            <a:prstDash val="solid"/>
          </a:ln>
        </p:spPr>
        <p:txBody>
          <a:bodyPr/>
          <a:lstStyle/>
          <a:p>
            <a:endParaRPr lang="en-US"/>
          </a:p>
        </p:txBody>
      </p:sp>
      <p:sp>
        <p:nvSpPr>
          <p:cNvPr id="24" name="Text 22"/>
          <p:cNvSpPr/>
          <p:nvPr/>
        </p:nvSpPr>
        <p:spPr>
          <a:xfrm>
            <a:off x="7754112" y="2999232"/>
            <a:ext cx="1463040" cy="182880"/>
          </a:xfrm>
          <a:prstGeom prst="rect">
            <a:avLst/>
          </a:prstGeom>
          <a:noFill/>
          <a:ln/>
        </p:spPr>
        <p:txBody>
          <a:bodyPr wrap="square" rtlCol="0" anchor="ctr"/>
          <a:lstStyle/>
          <a:p>
            <a:pPr marL="0" indent="0">
              <a:buNone/>
            </a:pPr>
            <a:r>
              <a:rPr lang="en-US" sz="1500" b="1" dirty="0">
                <a:solidFill>
                  <a:srgbClr val="17324D"/>
                </a:solidFill>
              </a:rPr>
              <a:t>Design goals</a:t>
            </a:r>
            <a:endParaRPr lang="en-US" sz="1500" dirty="0"/>
          </a:p>
        </p:txBody>
      </p:sp>
      <p:sp>
        <p:nvSpPr>
          <p:cNvPr id="25" name="Text 23"/>
          <p:cNvSpPr/>
          <p:nvPr/>
        </p:nvSpPr>
        <p:spPr>
          <a:xfrm>
            <a:off x="7635240" y="3291840"/>
            <a:ext cx="3474720" cy="1143000"/>
          </a:xfrm>
          <a:prstGeom prst="rect">
            <a:avLst/>
          </a:prstGeom>
          <a:noFill/>
          <a:ln/>
        </p:spPr>
        <p:txBody>
          <a:bodyPr wrap="square" lIns="25400" tIns="25400" rIns="25400" bIns="25400" rtlCol="0" anchor="t"/>
          <a:lstStyle/>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Traceable results rather than one-off experiments</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A workflow in which every major claim maps to a saved artifact</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Consistent reporting across the report, dashboard, README, and code package</a:t>
            </a:r>
            <a:endParaRPr lang="en-US" sz="1450" dirty="0"/>
          </a:p>
        </p:txBody>
      </p:sp>
      <p:sp>
        <p:nvSpPr>
          <p:cNvPr id="26" name="Text 24"/>
          <p:cNvSpPr/>
          <p:nvPr/>
        </p:nvSpPr>
        <p:spPr>
          <a:xfrm>
            <a:off x="4123944" y="5394960"/>
            <a:ext cx="2194560" cy="182880"/>
          </a:xfrm>
          <a:prstGeom prst="rect">
            <a:avLst/>
          </a:prstGeom>
          <a:noFill/>
          <a:ln/>
        </p:spPr>
        <p:txBody>
          <a:bodyPr wrap="square" rtlCol="0" anchor="ctr"/>
          <a:lstStyle/>
          <a:p>
            <a:pPr marL="0" indent="0">
              <a:buNone/>
            </a:pPr>
            <a:r>
              <a:rPr lang="en-US" sz="1500" b="1" dirty="0">
                <a:solidFill>
                  <a:srgbClr val="17324D"/>
                </a:solidFill>
              </a:rPr>
              <a:t>Why this structure matters</a:t>
            </a:r>
            <a:endParaRPr lang="en-US" sz="1500" dirty="0"/>
          </a:p>
        </p:txBody>
      </p:sp>
      <p:sp>
        <p:nvSpPr>
          <p:cNvPr id="27" name="Text 25"/>
          <p:cNvSpPr/>
          <p:nvPr/>
        </p:nvSpPr>
        <p:spPr>
          <a:xfrm>
            <a:off x="4123944" y="5756148"/>
            <a:ext cx="3493008" cy="685800"/>
          </a:xfrm>
          <a:prstGeom prst="rect">
            <a:avLst/>
          </a:prstGeom>
          <a:noFill/>
          <a:ln/>
        </p:spPr>
        <p:txBody>
          <a:bodyPr wrap="square" rtlCol="0" anchor="ctr"/>
          <a:lstStyle/>
          <a:p>
            <a:pPr marL="0" indent="0">
              <a:buNone/>
            </a:pPr>
            <a:r>
              <a:rPr lang="en-US" sz="1350" dirty="0">
                <a:solidFill>
                  <a:srgbClr val="1F2937"/>
                </a:solidFill>
              </a:rPr>
              <a:t>The same output directory feeds the report, plots, and dashboard. That makes the project easier to verify and much easier to defend in the code walkthrough.</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Data, models, and metrics</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5</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Shape 6"/>
          <p:cNvSpPr/>
          <p:nvPr/>
        </p:nvSpPr>
        <p:spPr>
          <a:xfrm>
            <a:off x="658368" y="1280160"/>
            <a:ext cx="2971800" cy="411480"/>
          </a:xfrm>
          <a:prstGeom prst="roundRect">
            <a:avLst>
              <a:gd name="adj" fmla="val 13333"/>
            </a:avLst>
          </a:prstGeom>
          <a:solidFill>
            <a:srgbClr val="EAF2F8"/>
          </a:solidFill>
          <a:ln w="12700">
            <a:solidFill>
              <a:srgbClr val="D7DEE7"/>
            </a:solidFill>
            <a:prstDash val="solid"/>
          </a:ln>
        </p:spPr>
        <p:txBody>
          <a:bodyPr/>
          <a:lstStyle/>
          <a:p>
            <a:endParaRPr lang="en-US"/>
          </a:p>
        </p:txBody>
      </p:sp>
      <p:sp>
        <p:nvSpPr>
          <p:cNvPr id="9" name="Text 7"/>
          <p:cNvSpPr/>
          <p:nvPr/>
        </p:nvSpPr>
        <p:spPr>
          <a:xfrm>
            <a:off x="804672" y="1408176"/>
            <a:ext cx="2651760" cy="146304"/>
          </a:xfrm>
          <a:prstGeom prst="rect">
            <a:avLst/>
          </a:prstGeom>
          <a:noFill/>
          <a:ln/>
        </p:spPr>
        <p:txBody>
          <a:bodyPr wrap="square" rtlCol="0" anchor="ctr"/>
          <a:lstStyle/>
          <a:p>
            <a:pPr marL="0" indent="0" algn="ctr">
              <a:buNone/>
            </a:pPr>
            <a:r>
              <a:rPr lang="en-US" sz="1500" b="1" dirty="0">
                <a:solidFill>
                  <a:srgbClr val="17324D"/>
                </a:solidFill>
              </a:rPr>
              <a:t>Datasets</a:t>
            </a:r>
            <a:endParaRPr lang="en-US" sz="1500" dirty="0"/>
          </a:p>
        </p:txBody>
      </p:sp>
      <p:sp>
        <p:nvSpPr>
          <p:cNvPr id="10" name="Shape 8"/>
          <p:cNvSpPr/>
          <p:nvPr/>
        </p:nvSpPr>
        <p:spPr>
          <a:xfrm>
            <a:off x="4599432" y="1280160"/>
            <a:ext cx="2971800" cy="411480"/>
          </a:xfrm>
          <a:prstGeom prst="roundRect">
            <a:avLst>
              <a:gd name="adj" fmla="val 13333"/>
            </a:avLst>
          </a:prstGeom>
          <a:solidFill>
            <a:srgbClr val="EAF6EE"/>
          </a:solidFill>
          <a:ln w="12700">
            <a:solidFill>
              <a:srgbClr val="D7DEE7"/>
            </a:solidFill>
            <a:prstDash val="solid"/>
          </a:ln>
        </p:spPr>
        <p:txBody>
          <a:bodyPr/>
          <a:lstStyle/>
          <a:p>
            <a:endParaRPr lang="en-US"/>
          </a:p>
        </p:txBody>
      </p:sp>
      <p:sp>
        <p:nvSpPr>
          <p:cNvPr id="11" name="Text 9"/>
          <p:cNvSpPr/>
          <p:nvPr/>
        </p:nvSpPr>
        <p:spPr>
          <a:xfrm>
            <a:off x="4745736" y="1408176"/>
            <a:ext cx="2651760" cy="146304"/>
          </a:xfrm>
          <a:prstGeom prst="rect">
            <a:avLst/>
          </a:prstGeom>
          <a:noFill/>
          <a:ln/>
        </p:spPr>
        <p:txBody>
          <a:bodyPr wrap="square" rtlCol="0" anchor="ctr"/>
          <a:lstStyle/>
          <a:p>
            <a:pPr marL="0" indent="0" algn="ctr">
              <a:buNone/>
            </a:pPr>
            <a:r>
              <a:rPr lang="en-US" sz="1500" b="1" dirty="0">
                <a:solidFill>
                  <a:srgbClr val="17324D"/>
                </a:solidFill>
              </a:rPr>
              <a:t>Model families</a:t>
            </a:r>
            <a:endParaRPr lang="en-US" sz="1500" dirty="0"/>
          </a:p>
        </p:txBody>
      </p:sp>
      <p:sp>
        <p:nvSpPr>
          <p:cNvPr id="12" name="Shape 10"/>
          <p:cNvSpPr/>
          <p:nvPr/>
        </p:nvSpPr>
        <p:spPr>
          <a:xfrm>
            <a:off x="8540496" y="1280160"/>
            <a:ext cx="2971800" cy="411480"/>
          </a:xfrm>
          <a:prstGeom prst="roundRect">
            <a:avLst>
              <a:gd name="adj" fmla="val 13333"/>
            </a:avLst>
          </a:prstGeom>
          <a:solidFill>
            <a:srgbClr val="FBF3E3"/>
          </a:solidFill>
          <a:ln w="12700">
            <a:solidFill>
              <a:srgbClr val="D7DEE7"/>
            </a:solidFill>
            <a:prstDash val="solid"/>
          </a:ln>
        </p:spPr>
        <p:txBody>
          <a:bodyPr/>
          <a:lstStyle/>
          <a:p>
            <a:endParaRPr lang="en-US"/>
          </a:p>
        </p:txBody>
      </p:sp>
      <p:sp>
        <p:nvSpPr>
          <p:cNvPr id="13" name="Text 11"/>
          <p:cNvSpPr/>
          <p:nvPr/>
        </p:nvSpPr>
        <p:spPr>
          <a:xfrm>
            <a:off x="8686800" y="1408176"/>
            <a:ext cx="2651760" cy="146304"/>
          </a:xfrm>
          <a:prstGeom prst="rect">
            <a:avLst/>
          </a:prstGeom>
          <a:noFill/>
          <a:ln/>
        </p:spPr>
        <p:txBody>
          <a:bodyPr wrap="square" rtlCol="0" anchor="ctr"/>
          <a:lstStyle/>
          <a:p>
            <a:pPr marL="0" indent="0" algn="ctr">
              <a:buNone/>
            </a:pPr>
            <a:r>
              <a:rPr lang="en-US" sz="1500" b="1" dirty="0">
                <a:solidFill>
                  <a:srgbClr val="17324D"/>
                </a:solidFill>
              </a:rPr>
              <a:t>Fairness + agreement</a:t>
            </a:r>
            <a:endParaRPr lang="en-US" sz="1500" dirty="0"/>
          </a:p>
        </p:txBody>
      </p:sp>
      <p:sp>
        <p:nvSpPr>
          <p:cNvPr id="14" name="Shape 12"/>
          <p:cNvSpPr/>
          <p:nvPr/>
        </p:nvSpPr>
        <p:spPr>
          <a:xfrm>
            <a:off x="658368" y="1874520"/>
            <a:ext cx="3474720" cy="749808"/>
          </a:xfrm>
          <a:prstGeom prst="roundRect">
            <a:avLst>
              <a:gd name="adj" fmla="val 6098"/>
            </a:avLst>
          </a:prstGeom>
          <a:solidFill>
            <a:srgbClr val="FFFFFF"/>
          </a:solidFill>
          <a:ln w="12700">
            <a:solidFill>
              <a:srgbClr val="D7DEE7"/>
            </a:solidFill>
            <a:prstDash val="solid"/>
          </a:ln>
        </p:spPr>
        <p:txBody>
          <a:bodyPr/>
          <a:lstStyle/>
          <a:p>
            <a:endParaRPr lang="en-US"/>
          </a:p>
        </p:txBody>
      </p:sp>
      <p:sp>
        <p:nvSpPr>
          <p:cNvPr id="15" name="Text 13"/>
          <p:cNvSpPr/>
          <p:nvPr/>
        </p:nvSpPr>
        <p:spPr>
          <a:xfrm>
            <a:off x="841248" y="1984248"/>
            <a:ext cx="1188720" cy="164592"/>
          </a:xfrm>
          <a:prstGeom prst="rect">
            <a:avLst/>
          </a:prstGeom>
          <a:noFill/>
          <a:ln/>
        </p:spPr>
        <p:txBody>
          <a:bodyPr wrap="square" rtlCol="0" anchor="ctr"/>
          <a:lstStyle/>
          <a:p>
            <a:pPr marL="0" indent="0">
              <a:buNone/>
            </a:pPr>
            <a:r>
              <a:rPr lang="en-US" sz="1500" b="1" dirty="0">
                <a:solidFill>
                  <a:srgbClr val="1F2937"/>
                </a:solidFill>
              </a:rPr>
              <a:t>Adult</a:t>
            </a:r>
            <a:endParaRPr lang="en-US" sz="1500" dirty="0"/>
          </a:p>
        </p:txBody>
      </p:sp>
      <p:sp>
        <p:nvSpPr>
          <p:cNvPr id="16" name="Text 14"/>
          <p:cNvSpPr/>
          <p:nvPr/>
        </p:nvSpPr>
        <p:spPr>
          <a:xfrm>
            <a:off x="841248" y="2221992"/>
            <a:ext cx="1600200" cy="146304"/>
          </a:xfrm>
          <a:prstGeom prst="rect">
            <a:avLst/>
          </a:prstGeom>
          <a:noFill/>
          <a:ln/>
        </p:spPr>
        <p:txBody>
          <a:bodyPr wrap="square" rtlCol="0" anchor="ctr"/>
          <a:lstStyle/>
          <a:p>
            <a:pPr marL="0" indent="0">
              <a:buNone/>
            </a:pPr>
            <a:r>
              <a:rPr lang="en-US" sz="1050" dirty="0">
                <a:solidFill>
                  <a:srgbClr val="5E6B7A"/>
                </a:solidFill>
              </a:rPr>
              <a:t>Income classification</a:t>
            </a:r>
            <a:endParaRPr lang="en-US" sz="1050" dirty="0"/>
          </a:p>
        </p:txBody>
      </p:sp>
      <p:sp>
        <p:nvSpPr>
          <p:cNvPr id="17" name="Shape 15"/>
          <p:cNvSpPr/>
          <p:nvPr/>
        </p:nvSpPr>
        <p:spPr>
          <a:xfrm>
            <a:off x="2697480" y="2093976"/>
            <a:ext cx="1097280" cy="329184"/>
          </a:xfrm>
          <a:prstGeom prst="roundRect">
            <a:avLst>
              <a:gd name="adj" fmla="val 33333"/>
            </a:avLst>
          </a:prstGeom>
          <a:solidFill>
            <a:srgbClr val="EAF2F8"/>
          </a:solidFill>
          <a:ln w="12700">
            <a:solidFill>
              <a:srgbClr val="EAF2F8"/>
            </a:solidFill>
            <a:prstDash val="solid"/>
          </a:ln>
        </p:spPr>
        <p:txBody>
          <a:bodyPr/>
          <a:lstStyle/>
          <a:p>
            <a:endParaRPr lang="en-US"/>
          </a:p>
        </p:txBody>
      </p:sp>
      <p:sp>
        <p:nvSpPr>
          <p:cNvPr id="18" name="Text 16"/>
          <p:cNvSpPr/>
          <p:nvPr/>
        </p:nvSpPr>
        <p:spPr>
          <a:xfrm>
            <a:off x="2770632" y="2167128"/>
            <a:ext cx="950976" cy="146304"/>
          </a:xfrm>
          <a:prstGeom prst="rect">
            <a:avLst/>
          </a:prstGeom>
          <a:noFill/>
          <a:ln/>
        </p:spPr>
        <p:txBody>
          <a:bodyPr wrap="square" rtlCol="0" anchor="ctr"/>
          <a:lstStyle/>
          <a:p>
            <a:pPr marL="0" indent="0" algn="ctr">
              <a:buNone/>
            </a:pPr>
            <a:r>
              <a:rPr lang="en-US" sz="1050" b="1" dirty="0">
                <a:solidFill>
                  <a:srgbClr val="2F6B9A"/>
                </a:solidFill>
              </a:rPr>
              <a:t>sex</a:t>
            </a:r>
            <a:endParaRPr lang="en-US" sz="1050" dirty="0"/>
          </a:p>
        </p:txBody>
      </p:sp>
      <p:sp>
        <p:nvSpPr>
          <p:cNvPr id="19" name="Shape 17"/>
          <p:cNvSpPr/>
          <p:nvPr/>
        </p:nvSpPr>
        <p:spPr>
          <a:xfrm>
            <a:off x="658368" y="2880360"/>
            <a:ext cx="3474720" cy="749808"/>
          </a:xfrm>
          <a:prstGeom prst="roundRect">
            <a:avLst>
              <a:gd name="adj" fmla="val 6098"/>
            </a:avLst>
          </a:prstGeom>
          <a:solidFill>
            <a:srgbClr val="FFFFFF"/>
          </a:solidFill>
          <a:ln w="12700">
            <a:solidFill>
              <a:srgbClr val="D7DEE7"/>
            </a:solidFill>
            <a:prstDash val="solid"/>
          </a:ln>
        </p:spPr>
        <p:txBody>
          <a:bodyPr/>
          <a:lstStyle/>
          <a:p>
            <a:endParaRPr lang="en-US"/>
          </a:p>
        </p:txBody>
      </p:sp>
      <p:sp>
        <p:nvSpPr>
          <p:cNvPr id="20" name="Text 18"/>
          <p:cNvSpPr/>
          <p:nvPr/>
        </p:nvSpPr>
        <p:spPr>
          <a:xfrm>
            <a:off x="841248" y="2990088"/>
            <a:ext cx="1188720" cy="164592"/>
          </a:xfrm>
          <a:prstGeom prst="rect">
            <a:avLst/>
          </a:prstGeom>
          <a:noFill/>
          <a:ln/>
        </p:spPr>
        <p:txBody>
          <a:bodyPr wrap="square" rtlCol="0" anchor="ctr"/>
          <a:lstStyle/>
          <a:p>
            <a:pPr marL="0" indent="0">
              <a:buNone/>
            </a:pPr>
            <a:r>
              <a:rPr lang="en-US" sz="1500" b="1" dirty="0">
                <a:solidFill>
                  <a:srgbClr val="1F2937"/>
                </a:solidFill>
              </a:rPr>
              <a:t>COMPAS</a:t>
            </a:r>
            <a:endParaRPr lang="en-US" sz="1500" dirty="0"/>
          </a:p>
        </p:txBody>
      </p:sp>
      <p:sp>
        <p:nvSpPr>
          <p:cNvPr id="21" name="Text 19"/>
          <p:cNvSpPr/>
          <p:nvPr/>
        </p:nvSpPr>
        <p:spPr>
          <a:xfrm>
            <a:off x="841248" y="3227832"/>
            <a:ext cx="1600200" cy="146304"/>
          </a:xfrm>
          <a:prstGeom prst="rect">
            <a:avLst/>
          </a:prstGeom>
          <a:noFill/>
          <a:ln/>
        </p:spPr>
        <p:txBody>
          <a:bodyPr wrap="square" rtlCol="0" anchor="ctr"/>
          <a:lstStyle/>
          <a:p>
            <a:pPr marL="0" indent="0">
              <a:buNone/>
            </a:pPr>
            <a:r>
              <a:rPr lang="en-US" sz="1050" dirty="0">
                <a:solidFill>
                  <a:srgbClr val="5E6B7A"/>
                </a:solidFill>
              </a:rPr>
              <a:t>Two-year recidivism</a:t>
            </a:r>
            <a:endParaRPr lang="en-US" sz="1050" dirty="0"/>
          </a:p>
        </p:txBody>
      </p:sp>
      <p:sp>
        <p:nvSpPr>
          <p:cNvPr id="22" name="Shape 20"/>
          <p:cNvSpPr/>
          <p:nvPr/>
        </p:nvSpPr>
        <p:spPr>
          <a:xfrm>
            <a:off x="2697480" y="3099816"/>
            <a:ext cx="1097280" cy="329184"/>
          </a:xfrm>
          <a:prstGeom prst="roundRect">
            <a:avLst>
              <a:gd name="adj" fmla="val 33333"/>
            </a:avLst>
          </a:prstGeom>
          <a:solidFill>
            <a:srgbClr val="EAF2F8"/>
          </a:solidFill>
          <a:ln w="12700">
            <a:solidFill>
              <a:srgbClr val="EAF2F8"/>
            </a:solidFill>
            <a:prstDash val="solid"/>
          </a:ln>
        </p:spPr>
        <p:txBody>
          <a:bodyPr/>
          <a:lstStyle/>
          <a:p>
            <a:endParaRPr lang="en-US"/>
          </a:p>
        </p:txBody>
      </p:sp>
      <p:sp>
        <p:nvSpPr>
          <p:cNvPr id="23" name="Text 21"/>
          <p:cNvSpPr/>
          <p:nvPr/>
        </p:nvSpPr>
        <p:spPr>
          <a:xfrm>
            <a:off x="2770632" y="3172968"/>
            <a:ext cx="950976" cy="146304"/>
          </a:xfrm>
          <a:prstGeom prst="rect">
            <a:avLst/>
          </a:prstGeom>
          <a:noFill/>
          <a:ln/>
        </p:spPr>
        <p:txBody>
          <a:bodyPr wrap="square" rtlCol="0" anchor="ctr"/>
          <a:lstStyle/>
          <a:p>
            <a:pPr marL="0" indent="0" algn="ctr">
              <a:buNone/>
            </a:pPr>
            <a:r>
              <a:rPr lang="en-US" sz="1050" b="1" dirty="0">
                <a:solidFill>
                  <a:srgbClr val="2F6B9A"/>
                </a:solidFill>
              </a:rPr>
              <a:t>race</a:t>
            </a:r>
            <a:endParaRPr lang="en-US" sz="1050" dirty="0"/>
          </a:p>
        </p:txBody>
      </p:sp>
      <p:sp>
        <p:nvSpPr>
          <p:cNvPr id="24" name="Shape 22"/>
          <p:cNvSpPr/>
          <p:nvPr/>
        </p:nvSpPr>
        <p:spPr>
          <a:xfrm>
            <a:off x="676656" y="3809480"/>
            <a:ext cx="3474720" cy="749808"/>
          </a:xfrm>
          <a:prstGeom prst="roundRect">
            <a:avLst>
              <a:gd name="adj" fmla="val 6098"/>
            </a:avLst>
          </a:prstGeom>
          <a:solidFill>
            <a:srgbClr val="FFFFFF"/>
          </a:solidFill>
          <a:ln w="12700">
            <a:solidFill>
              <a:srgbClr val="D7DEE7"/>
            </a:solidFill>
            <a:prstDash val="solid"/>
          </a:ln>
        </p:spPr>
        <p:txBody>
          <a:bodyPr/>
          <a:lstStyle/>
          <a:p>
            <a:endParaRPr lang="en-US"/>
          </a:p>
        </p:txBody>
      </p:sp>
      <p:sp>
        <p:nvSpPr>
          <p:cNvPr id="25" name="Text 23"/>
          <p:cNvSpPr/>
          <p:nvPr/>
        </p:nvSpPr>
        <p:spPr>
          <a:xfrm>
            <a:off x="841248" y="3995928"/>
            <a:ext cx="1188720" cy="164592"/>
          </a:xfrm>
          <a:prstGeom prst="rect">
            <a:avLst/>
          </a:prstGeom>
          <a:noFill/>
          <a:ln/>
        </p:spPr>
        <p:txBody>
          <a:bodyPr wrap="square" rtlCol="0" anchor="ctr"/>
          <a:lstStyle/>
          <a:p>
            <a:pPr marL="0" indent="0">
              <a:buNone/>
            </a:pPr>
            <a:r>
              <a:rPr lang="en-US" sz="1500" b="1" dirty="0">
                <a:solidFill>
                  <a:srgbClr val="1F2937"/>
                </a:solidFill>
              </a:rPr>
              <a:t>German Credit</a:t>
            </a:r>
            <a:endParaRPr lang="en-US" sz="1500" dirty="0"/>
          </a:p>
        </p:txBody>
      </p:sp>
      <p:sp>
        <p:nvSpPr>
          <p:cNvPr id="26" name="Text 24"/>
          <p:cNvSpPr/>
          <p:nvPr/>
        </p:nvSpPr>
        <p:spPr>
          <a:xfrm>
            <a:off x="841248" y="4233672"/>
            <a:ext cx="1600200" cy="146304"/>
          </a:xfrm>
          <a:prstGeom prst="rect">
            <a:avLst/>
          </a:prstGeom>
          <a:noFill/>
          <a:ln/>
        </p:spPr>
        <p:txBody>
          <a:bodyPr wrap="square" rtlCol="0" anchor="ctr"/>
          <a:lstStyle/>
          <a:p>
            <a:pPr marL="0" indent="0">
              <a:buNone/>
            </a:pPr>
            <a:r>
              <a:rPr lang="en-US" sz="1050" dirty="0">
                <a:solidFill>
                  <a:srgbClr val="5E6B7A"/>
                </a:solidFill>
              </a:rPr>
              <a:t>Credit risk</a:t>
            </a:r>
            <a:endParaRPr lang="en-US" sz="1050" dirty="0"/>
          </a:p>
        </p:txBody>
      </p:sp>
      <p:sp>
        <p:nvSpPr>
          <p:cNvPr id="27" name="Shape 25"/>
          <p:cNvSpPr/>
          <p:nvPr/>
        </p:nvSpPr>
        <p:spPr>
          <a:xfrm>
            <a:off x="2697480" y="4105656"/>
            <a:ext cx="1097280" cy="329184"/>
          </a:xfrm>
          <a:prstGeom prst="roundRect">
            <a:avLst>
              <a:gd name="adj" fmla="val 33333"/>
            </a:avLst>
          </a:prstGeom>
          <a:solidFill>
            <a:srgbClr val="EAF2F8"/>
          </a:solidFill>
          <a:ln w="12700">
            <a:solidFill>
              <a:srgbClr val="EAF2F8"/>
            </a:solidFill>
            <a:prstDash val="solid"/>
          </a:ln>
        </p:spPr>
        <p:txBody>
          <a:bodyPr/>
          <a:lstStyle/>
          <a:p>
            <a:endParaRPr lang="en-US"/>
          </a:p>
        </p:txBody>
      </p:sp>
      <p:sp>
        <p:nvSpPr>
          <p:cNvPr id="28" name="Text 26"/>
          <p:cNvSpPr/>
          <p:nvPr/>
        </p:nvSpPr>
        <p:spPr>
          <a:xfrm>
            <a:off x="2770632" y="4178807"/>
            <a:ext cx="1024128" cy="197599"/>
          </a:xfrm>
          <a:prstGeom prst="rect">
            <a:avLst/>
          </a:prstGeom>
          <a:noFill/>
          <a:ln/>
        </p:spPr>
        <p:txBody>
          <a:bodyPr wrap="square" rtlCol="0" anchor="ctr"/>
          <a:lstStyle/>
          <a:p>
            <a:pPr marL="0" indent="0" algn="ctr">
              <a:buNone/>
            </a:pPr>
            <a:r>
              <a:rPr lang="en-US" sz="1050" b="1" dirty="0">
                <a:solidFill>
                  <a:srgbClr val="2F6B9A"/>
                </a:solidFill>
              </a:rPr>
              <a:t>personal status / sex proxy</a:t>
            </a:r>
            <a:endParaRPr lang="en-US" sz="1050" dirty="0"/>
          </a:p>
        </p:txBody>
      </p:sp>
      <p:sp>
        <p:nvSpPr>
          <p:cNvPr id="29" name="Text 27"/>
          <p:cNvSpPr/>
          <p:nvPr/>
        </p:nvSpPr>
        <p:spPr>
          <a:xfrm>
            <a:off x="676656" y="5120640"/>
            <a:ext cx="1645920" cy="164592"/>
          </a:xfrm>
          <a:prstGeom prst="rect">
            <a:avLst/>
          </a:prstGeom>
          <a:noFill/>
          <a:ln/>
        </p:spPr>
        <p:txBody>
          <a:bodyPr wrap="square" rtlCol="0" anchor="ctr"/>
          <a:lstStyle/>
          <a:p>
            <a:pPr marL="0" indent="0">
              <a:buNone/>
            </a:pPr>
            <a:r>
              <a:rPr lang="en-US" sz="1400" b="1" dirty="0">
                <a:solidFill>
                  <a:srgbClr val="17324D"/>
                </a:solidFill>
              </a:rPr>
              <a:t>Why this setup is useful</a:t>
            </a:r>
            <a:endParaRPr lang="en-US" sz="1400" dirty="0"/>
          </a:p>
        </p:txBody>
      </p:sp>
      <p:sp>
        <p:nvSpPr>
          <p:cNvPr id="30" name="Text 28"/>
          <p:cNvSpPr/>
          <p:nvPr/>
        </p:nvSpPr>
        <p:spPr>
          <a:xfrm>
            <a:off x="685800" y="5349240"/>
            <a:ext cx="3657600" cy="868680"/>
          </a:xfrm>
          <a:prstGeom prst="rect">
            <a:avLst/>
          </a:prstGeom>
          <a:noFill/>
          <a:ln/>
        </p:spPr>
        <p:txBody>
          <a:bodyPr wrap="square" lIns="25400" tIns="25400" rIns="25400" bIns="25400" rtlCol="0" anchor="t"/>
          <a:lstStyle/>
          <a:p>
            <a:pPr marL="177800" indent="-177800">
              <a:buSzPct val="100000"/>
              <a:buChar char="•"/>
            </a:pPr>
            <a:r>
              <a:rPr lang="en-US" sz="1350" dirty="0">
                <a:solidFill>
                  <a:srgbClr val="1F2937"/>
                </a:solidFill>
                <a:latin typeface="Aptos" pitchFamily="34" charset="0"/>
                <a:ea typeface="Aptos" pitchFamily="34" charset="-122"/>
                <a:cs typeface="Aptos" pitchFamily="34" charset="-120"/>
              </a:rPr>
              <a:t>Three domains: income, criminal justice, and credit risk</a:t>
            </a:r>
            <a:endParaRPr lang="en-US" sz="1350" dirty="0"/>
          </a:p>
          <a:p>
            <a:pPr marL="177800" indent="-177800">
              <a:buSzPct val="100000"/>
              <a:buChar char="•"/>
            </a:pPr>
            <a:r>
              <a:rPr lang="en-US" sz="1350" dirty="0">
                <a:solidFill>
                  <a:srgbClr val="1F2937"/>
                </a:solidFill>
                <a:latin typeface="Aptos" pitchFamily="34" charset="0"/>
                <a:ea typeface="Aptos" pitchFamily="34" charset="-122"/>
                <a:cs typeface="Aptos" pitchFamily="34" charset="-120"/>
              </a:rPr>
              <a:t>Seven classical models spanning linear, tree-based, distance-based, margin-based, and probabilistic families</a:t>
            </a:r>
            <a:endParaRPr lang="en-US" sz="1350" dirty="0"/>
          </a:p>
        </p:txBody>
      </p:sp>
      <p:sp>
        <p:nvSpPr>
          <p:cNvPr id="31" name="Text 29"/>
          <p:cNvSpPr/>
          <p:nvPr/>
        </p:nvSpPr>
        <p:spPr>
          <a:xfrm>
            <a:off x="4681728" y="1901952"/>
            <a:ext cx="3474720" cy="2011680"/>
          </a:xfrm>
          <a:prstGeom prst="rect">
            <a:avLst/>
          </a:prstGeom>
          <a:noFill/>
          <a:ln/>
        </p:spPr>
        <p:txBody>
          <a:bodyPr wrap="square" lIns="25400" tIns="25400" rIns="25400" bIns="25400" rtlCol="0" anchor="t"/>
          <a:lstStyle/>
          <a:p>
            <a:pPr marL="177800" indent="-177800">
              <a:buSzPct val="100000"/>
              <a:buChar char="•"/>
            </a:pPr>
            <a:r>
              <a:rPr lang="en-US" sz="1450" dirty="0">
                <a:solidFill>
                  <a:srgbClr val="1F2937"/>
                </a:solidFill>
                <a:latin typeface="Aptos" pitchFamily="34" charset="0"/>
                <a:ea typeface="Aptos" pitchFamily="34" charset="-122"/>
                <a:cs typeface="Aptos" pitchFamily="34" charset="-120"/>
              </a:rPr>
              <a:t>Logistic regression as an interpretable linear baseline</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Random forest and decision tree for nonlinear tabular rules</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SVM, KNN, gradient boosting, and Gaussian naive Bayes for broader model diversity</a:t>
            </a:r>
            <a:endParaRPr lang="en-US" sz="1450" dirty="0"/>
          </a:p>
        </p:txBody>
      </p:sp>
      <p:sp>
        <p:nvSpPr>
          <p:cNvPr id="32" name="Shape 30"/>
          <p:cNvSpPr/>
          <p:nvPr/>
        </p:nvSpPr>
        <p:spPr>
          <a:xfrm>
            <a:off x="8641080" y="1874520"/>
            <a:ext cx="914400" cy="804672"/>
          </a:xfrm>
          <a:prstGeom prst="roundRect">
            <a:avLst>
              <a:gd name="adj" fmla="val 9091"/>
            </a:avLst>
          </a:prstGeom>
          <a:solidFill>
            <a:srgbClr val="2F6B9A"/>
          </a:solidFill>
          <a:ln w="12700">
            <a:solidFill>
              <a:srgbClr val="2F6B9A"/>
            </a:solidFill>
            <a:prstDash val="solid"/>
          </a:ln>
          <a:effectLst>
            <a:outerShdw blurRad="12700" dist="6350" dir="2700000" algn="bl" rotWithShape="0">
              <a:srgbClr val="000000">
                <a:alpha val="12000"/>
              </a:srgbClr>
            </a:outerShdw>
          </a:effectLst>
        </p:spPr>
        <p:txBody>
          <a:bodyPr/>
          <a:lstStyle/>
          <a:p>
            <a:endParaRPr lang="en-US"/>
          </a:p>
        </p:txBody>
      </p:sp>
      <p:sp>
        <p:nvSpPr>
          <p:cNvPr id="33" name="Text 31"/>
          <p:cNvSpPr/>
          <p:nvPr/>
        </p:nvSpPr>
        <p:spPr>
          <a:xfrm>
            <a:off x="8769096" y="2020824"/>
            <a:ext cx="658368" cy="274320"/>
          </a:xfrm>
          <a:prstGeom prst="rect">
            <a:avLst/>
          </a:prstGeom>
          <a:noFill/>
          <a:ln/>
        </p:spPr>
        <p:txBody>
          <a:bodyPr wrap="square" rtlCol="0" anchor="ctr"/>
          <a:lstStyle/>
          <a:p>
            <a:pPr marL="0" indent="0" algn="ctr">
              <a:buNone/>
            </a:pPr>
            <a:r>
              <a:rPr lang="en-US" sz="2000" b="1" dirty="0">
                <a:solidFill>
                  <a:srgbClr val="FFFFFF"/>
                </a:solidFill>
              </a:rPr>
              <a:t>DP</a:t>
            </a:r>
            <a:endParaRPr lang="en-US" sz="2000" dirty="0"/>
          </a:p>
        </p:txBody>
      </p:sp>
      <p:sp>
        <p:nvSpPr>
          <p:cNvPr id="34" name="Text 32"/>
          <p:cNvSpPr/>
          <p:nvPr/>
        </p:nvSpPr>
        <p:spPr>
          <a:xfrm>
            <a:off x="8732520" y="2350008"/>
            <a:ext cx="850392" cy="201168"/>
          </a:xfrm>
          <a:prstGeom prst="rect">
            <a:avLst/>
          </a:prstGeom>
          <a:noFill/>
          <a:ln/>
        </p:spPr>
        <p:txBody>
          <a:bodyPr wrap="square" rtlCol="0" anchor="ctr"/>
          <a:lstStyle/>
          <a:p>
            <a:pPr marL="0" indent="0" algn="ctr">
              <a:buNone/>
            </a:pPr>
            <a:r>
              <a:rPr lang="en-US" sz="1050" b="1" dirty="0">
                <a:solidFill>
                  <a:srgbClr val="FFFFFF"/>
                </a:solidFill>
              </a:rPr>
              <a:t>Outcome</a:t>
            </a:r>
            <a:endParaRPr lang="en-US" sz="1050" dirty="0"/>
          </a:p>
          <a:p>
            <a:pPr marL="0" indent="0" algn="ctr">
              <a:buNone/>
            </a:pPr>
            <a:r>
              <a:rPr lang="en-US" sz="1050" b="1" dirty="0">
                <a:solidFill>
                  <a:srgbClr val="FFFFFF"/>
                </a:solidFill>
              </a:rPr>
              <a:t>parity</a:t>
            </a:r>
            <a:endParaRPr lang="en-US" sz="1050" dirty="0"/>
          </a:p>
        </p:txBody>
      </p:sp>
      <p:sp>
        <p:nvSpPr>
          <p:cNvPr id="35" name="Text 33"/>
          <p:cNvSpPr/>
          <p:nvPr/>
        </p:nvSpPr>
        <p:spPr>
          <a:xfrm>
            <a:off x="8714232" y="2633472"/>
            <a:ext cx="768096" cy="329184"/>
          </a:xfrm>
          <a:prstGeom prst="rect">
            <a:avLst/>
          </a:prstGeom>
          <a:noFill/>
          <a:ln/>
        </p:spPr>
        <p:txBody>
          <a:bodyPr wrap="square" rtlCol="0" anchor="ctr"/>
          <a:lstStyle/>
          <a:p>
            <a:pPr marL="0" indent="0" algn="ctr">
              <a:buNone/>
            </a:pPr>
            <a:endParaRPr lang="en-US" sz="850" dirty="0"/>
          </a:p>
        </p:txBody>
      </p:sp>
      <p:sp>
        <p:nvSpPr>
          <p:cNvPr id="36" name="Shape 34"/>
          <p:cNvSpPr/>
          <p:nvPr/>
        </p:nvSpPr>
        <p:spPr>
          <a:xfrm>
            <a:off x="9674352" y="1874520"/>
            <a:ext cx="914400" cy="804672"/>
          </a:xfrm>
          <a:prstGeom prst="roundRect">
            <a:avLst>
              <a:gd name="adj" fmla="val 9091"/>
            </a:avLst>
          </a:prstGeom>
          <a:solidFill>
            <a:srgbClr val="E38B2C"/>
          </a:solidFill>
          <a:ln w="12700">
            <a:solidFill>
              <a:srgbClr val="E38B2C"/>
            </a:solidFill>
            <a:prstDash val="solid"/>
          </a:ln>
          <a:effectLst>
            <a:outerShdw blurRad="12700" dist="6350" dir="2700000" algn="bl" rotWithShape="0">
              <a:srgbClr val="000000">
                <a:alpha val="12000"/>
              </a:srgbClr>
            </a:outerShdw>
          </a:effectLst>
        </p:spPr>
        <p:txBody>
          <a:bodyPr/>
          <a:lstStyle/>
          <a:p>
            <a:endParaRPr lang="en-US"/>
          </a:p>
        </p:txBody>
      </p:sp>
      <p:sp>
        <p:nvSpPr>
          <p:cNvPr id="37" name="Text 35"/>
          <p:cNvSpPr/>
          <p:nvPr/>
        </p:nvSpPr>
        <p:spPr>
          <a:xfrm>
            <a:off x="9802368" y="2020824"/>
            <a:ext cx="658368" cy="274320"/>
          </a:xfrm>
          <a:prstGeom prst="rect">
            <a:avLst/>
          </a:prstGeom>
          <a:noFill/>
          <a:ln/>
        </p:spPr>
        <p:txBody>
          <a:bodyPr wrap="square" rtlCol="0" anchor="ctr"/>
          <a:lstStyle/>
          <a:p>
            <a:pPr marL="0" indent="0" algn="ctr">
              <a:buNone/>
            </a:pPr>
            <a:r>
              <a:rPr lang="en-US" sz="2000" b="1" dirty="0">
                <a:solidFill>
                  <a:srgbClr val="FFFFFF"/>
                </a:solidFill>
              </a:rPr>
              <a:t>EO</a:t>
            </a:r>
            <a:endParaRPr lang="en-US" sz="2000" dirty="0"/>
          </a:p>
        </p:txBody>
      </p:sp>
      <p:sp>
        <p:nvSpPr>
          <p:cNvPr id="38" name="Text 36"/>
          <p:cNvSpPr/>
          <p:nvPr/>
        </p:nvSpPr>
        <p:spPr>
          <a:xfrm>
            <a:off x="9765792" y="2350008"/>
            <a:ext cx="731520" cy="256032"/>
          </a:xfrm>
          <a:prstGeom prst="rect">
            <a:avLst/>
          </a:prstGeom>
          <a:noFill/>
          <a:ln/>
        </p:spPr>
        <p:txBody>
          <a:bodyPr wrap="square" rtlCol="0" anchor="ctr"/>
          <a:lstStyle/>
          <a:p>
            <a:pPr marL="0" indent="0" algn="ctr">
              <a:buNone/>
            </a:pPr>
            <a:r>
              <a:rPr lang="en-US" sz="1050" b="1" dirty="0">
                <a:solidFill>
                  <a:srgbClr val="FFFFFF"/>
                </a:solidFill>
              </a:rPr>
              <a:t>Error</a:t>
            </a:r>
            <a:endParaRPr lang="en-US" sz="1050" dirty="0"/>
          </a:p>
          <a:p>
            <a:pPr marL="0" indent="0" algn="ctr">
              <a:buNone/>
            </a:pPr>
            <a:r>
              <a:rPr lang="en-US" sz="1050" b="1" dirty="0">
                <a:solidFill>
                  <a:srgbClr val="FFFFFF"/>
                </a:solidFill>
              </a:rPr>
              <a:t>parity</a:t>
            </a:r>
            <a:endParaRPr lang="en-US" sz="1050" dirty="0"/>
          </a:p>
        </p:txBody>
      </p:sp>
      <p:sp>
        <p:nvSpPr>
          <p:cNvPr id="39" name="Text 37"/>
          <p:cNvSpPr/>
          <p:nvPr/>
        </p:nvSpPr>
        <p:spPr>
          <a:xfrm>
            <a:off x="9747504" y="2633472"/>
            <a:ext cx="768096" cy="329184"/>
          </a:xfrm>
          <a:prstGeom prst="rect">
            <a:avLst/>
          </a:prstGeom>
          <a:noFill/>
          <a:ln/>
        </p:spPr>
        <p:txBody>
          <a:bodyPr wrap="square" rtlCol="0" anchor="ctr"/>
          <a:lstStyle/>
          <a:p>
            <a:pPr marL="0" indent="0" algn="ctr">
              <a:buNone/>
            </a:pPr>
            <a:endParaRPr lang="en-US" sz="850" dirty="0"/>
          </a:p>
        </p:txBody>
      </p:sp>
      <p:sp>
        <p:nvSpPr>
          <p:cNvPr id="40" name="Shape 38"/>
          <p:cNvSpPr/>
          <p:nvPr/>
        </p:nvSpPr>
        <p:spPr>
          <a:xfrm>
            <a:off x="10707624" y="1874520"/>
            <a:ext cx="914400" cy="804672"/>
          </a:xfrm>
          <a:prstGeom prst="roundRect">
            <a:avLst>
              <a:gd name="adj" fmla="val 9091"/>
            </a:avLst>
          </a:prstGeom>
          <a:solidFill>
            <a:srgbClr val="C44E52"/>
          </a:solidFill>
          <a:ln w="12700">
            <a:solidFill>
              <a:srgbClr val="C44E52"/>
            </a:solidFill>
            <a:prstDash val="solid"/>
          </a:ln>
          <a:effectLst>
            <a:outerShdw blurRad="12700" dist="6350" dir="2700000" algn="bl" rotWithShape="0">
              <a:srgbClr val="000000">
                <a:alpha val="12000"/>
              </a:srgbClr>
            </a:outerShdw>
          </a:effectLst>
        </p:spPr>
        <p:txBody>
          <a:bodyPr/>
          <a:lstStyle/>
          <a:p>
            <a:endParaRPr lang="en-US"/>
          </a:p>
        </p:txBody>
      </p:sp>
      <p:sp>
        <p:nvSpPr>
          <p:cNvPr id="41" name="Text 39"/>
          <p:cNvSpPr/>
          <p:nvPr/>
        </p:nvSpPr>
        <p:spPr>
          <a:xfrm>
            <a:off x="10835640" y="2020824"/>
            <a:ext cx="658368" cy="274320"/>
          </a:xfrm>
          <a:prstGeom prst="rect">
            <a:avLst/>
          </a:prstGeom>
          <a:noFill/>
          <a:ln/>
        </p:spPr>
        <p:txBody>
          <a:bodyPr wrap="square" rtlCol="0" anchor="ctr"/>
          <a:lstStyle/>
          <a:p>
            <a:pPr marL="0" indent="0" algn="ctr">
              <a:buNone/>
            </a:pPr>
            <a:r>
              <a:rPr lang="en-US" sz="2000" b="1" dirty="0">
                <a:solidFill>
                  <a:srgbClr val="FFFFFF"/>
                </a:solidFill>
              </a:rPr>
              <a:t>PP</a:t>
            </a:r>
            <a:endParaRPr lang="en-US" sz="2000" dirty="0"/>
          </a:p>
        </p:txBody>
      </p:sp>
      <p:sp>
        <p:nvSpPr>
          <p:cNvPr id="42" name="Text 40"/>
          <p:cNvSpPr/>
          <p:nvPr/>
        </p:nvSpPr>
        <p:spPr>
          <a:xfrm>
            <a:off x="10799064" y="2350008"/>
            <a:ext cx="731520" cy="256032"/>
          </a:xfrm>
          <a:prstGeom prst="rect">
            <a:avLst/>
          </a:prstGeom>
          <a:noFill/>
          <a:ln/>
        </p:spPr>
        <p:txBody>
          <a:bodyPr wrap="square" rtlCol="0" anchor="ctr"/>
          <a:lstStyle/>
          <a:p>
            <a:pPr marL="0" indent="0" algn="ctr">
              <a:buNone/>
            </a:pPr>
            <a:r>
              <a:rPr lang="en-US" sz="1050" b="1" dirty="0">
                <a:solidFill>
                  <a:srgbClr val="FFFFFF"/>
                </a:solidFill>
              </a:rPr>
              <a:t>Meaning</a:t>
            </a:r>
            <a:endParaRPr lang="en-US" sz="1050" dirty="0"/>
          </a:p>
          <a:p>
            <a:pPr marL="0" indent="0" algn="ctr">
              <a:buNone/>
            </a:pPr>
            <a:r>
              <a:rPr lang="en-US" sz="1050" b="1" dirty="0">
                <a:solidFill>
                  <a:srgbClr val="FFFFFF"/>
                </a:solidFill>
              </a:rPr>
              <a:t>parity</a:t>
            </a:r>
            <a:endParaRPr lang="en-US" sz="1050" dirty="0"/>
          </a:p>
        </p:txBody>
      </p:sp>
      <p:sp>
        <p:nvSpPr>
          <p:cNvPr id="43" name="Text 41"/>
          <p:cNvSpPr/>
          <p:nvPr/>
        </p:nvSpPr>
        <p:spPr>
          <a:xfrm>
            <a:off x="10780776" y="2633472"/>
            <a:ext cx="768096" cy="329184"/>
          </a:xfrm>
          <a:prstGeom prst="rect">
            <a:avLst/>
          </a:prstGeom>
          <a:noFill/>
          <a:ln/>
        </p:spPr>
        <p:txBody>
          <a:bodyPr wrap="square" rtlCol="0" anchor="ctr"/>
          <a:lstStyle/>
          <a:p>
            <a:pPr marL="0" indent="0" algn="ctr">
              <a:buNone/>
            </a:pPr>
            <a:endParaRPr lang="en-US" sz="850" dirty="0"/>
          </a:p>
        </p:txBody>
      </p:sp>
      <p:sp>
        <p:nvSpPr>
          <p:cNvPr id="44" name="Text 42"/>
          <p:cNvSpPr/>
          <p:nvPr/>
        </p:nvSpPr>
        <p:spPr>
          <a:xfrm>
            <a:off x="8641080" y="2971800"/>
            <a:ext cx="1554480" cy="164592"/>
          </a:xfrm>
          <a:prstGeom prst="rect">
            <a:avLst/>
          </a:prstGeom>
          <a:noFill/>
          <a:ln/>
        </p:spPr>
        <p:txBody>
          <a:bodyPr wrap="square" rtlCol="0" anchor="ctr"/>
          <a:lstStyle/>
          <a:p>
            <a:pPr marL="0" indent="0">
              <a:buNone/>
            </a:pPr>
            <a:r>
              <a:rPr lang="en-US" sz="1400" b="1" dirty="0">
                <a:solidFill>
                  <a:srgbClr val="17324D"/>
                </a:solidFill>
              </a:rPr>
              <a:t>Agreement layer</a:t>
            </a:r>
            <a:endParaRPr lang="en-US" sz="1400" dirty="0"/>
          </a:p>
        </p:txBody>
      </p:sp>
      <p:sp>
        <p:nvSpPr>
          <p:cNvPr id="45" name="Text 43"/>
          <p:cNvSpPr/>
          <p:nvPr/>
        </p:nvSpPr>
        <p:spPr>
          <a:xfrm>
            <a:off x="8613648" y="3218688"/>
            <a:ext cx="2926080" cy="914400"/>
          </a:xfrm>
          <a:prstGeom prst="rect">
            <a:avLst/>
          </a:prstGeom>
          <a:noFill/>
          <a:ln/>
        </p:spPr>
        <p:txBody>
          <a:bodyPr wrap="square" lIns="25400" tIns="25400" rIns="25400" bIns="25400" rtlCol="0" anchor="t"/>
          <a:lstStyle/>
          <a:p>
            <a:pPr marL="177800" indent="-177800">
              <a:buSzPct val="100000"/>
              <a:buChar char="•"/>
            </a:pPr>
            <a:r>
              <a:rPr lang="en-US" sz="1350" dirty="0">
                <a:solidFill>
                  <a:srgbClr val="1F2937"/>
                </a:solidFill>
                <a:latin typeface="Aptos" pitchFamily="34" charset="0"/>
                <a:ea typeface="Aptos" pitchFamily="34" charset="-122"/>
                <a:cs typeface="Aptos" pitchFamily="34" charset="-120"/>
              </a:rPr>
              <a:t>Kendall’s τ captures rank agreement among metrics.</a:t>
            </a:r>
            <a:endParaRPr lang="en-US" sz="1350" dirty="0"/>
          </a:p>
          <a:p>
            <a:pPr marL="177800" indent="-177800">
              <a:buSzPct val="100000"/>
              <a:buChar char="•"/>
            </a:pPr>
            <a:r>
              <a:rPr lang="en-US" sz="1350" dirty="0">
                <a:solidFill>
                  <a:srgbClr val="1F2937"/>
                </a:solidFill>
                <a:latin typeface="Aptos" pitchFamily="34" charset="0"/>
                <a:ea typeface="Aptos" pitchFamily="34" charset="-122"/>
                <a:cs typeface="Aptos" pitchFamily="34" charset="-120"/>
              </a:rPr>
              <a:t>Krippendorff’s α summarizes whether metrics behave like near-redundant raters.</a:t>
            </a:r>
            <a:endParaRPr lang="en-US" sz="1350" dirty="0"/>
          </a:p>
        </p:txBody>
      </p:sp>
      <p:sp>
        <p:nvSpPr>
          <p:cNvPr id="46" name="Text 44"/>
          <p:cNvSpPr/>
          <p:nvPr/>
        </p:nvSpPr>
        <p:spPr>
          <a:xfrm>
            <a:off x="8613648" y="4526280"/>
            <a:ext cx="2834640" cy="685800"/>
          </a:xfrm>
          <a:prstGeom prst="rect">
            <a:avLst/>
          </a:prstGeom>
          <a:noFill/>
          <a:ln/>
        </p:spPr>
        <p:txBody>
          <a:bodyPr wrap="square" rtlCol="0" anchor="ctr"/>
          <a:lstStyle/>
          <a:p>
            <a:pPr marL="0" indent="0" algn="l">
              <a:buNone/>
            </a:pPr>
            <a:r>
              <a:rPr lang="en-US" sz="1450" b="1" i="1" dirty="0">
                <a:solidFill>
                  <a:srgbClr val="1F2937"/>
                </a:solidFill>
              </a:rPr>
              <a:t>The goal is not just to report fairness scores—it is to report how stable the fairness story is.</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A critical revision: correcting the Adult fairness bug</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6</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Shape 6"/>
          <p:cNvSpPr/>
          <p:nvPr/>
        </p:nvSpPr>
        <p:spPr>
          <a:xfrm>
            <a:off x="685800" y="1325880"/>
            <a:ext cx="3730752" cy="4306824"/>
          </a:xfrm>
          <a:prstGeom prst="roundRect">
            <a:avLst>
              <a:gd name="adj" fmla="val 1690"/>
            </a:avLst>
          </a:prstGeom>
          <a:solidFill>
            <a:srgbClr val="FCEBEC"/>
          </a:solidFill>
          <a:ln w="12700">
            <a:solidFill>
              <a:srgbClr val="E6C7CA"/>
            </a:solidFill>
            <a:prstDash val="solid"/>
          </a:ln>
        </p:spPr>
        <p:txBody>
          <a:bodyPr/>
          <a:lstStyle/>
          <a:p>
            <a:endParaRPr lang="en-US"/>
          </a:p>
        </p:txBody>
      </p:sp>
      <p:sp>
        <p:nvSpPr>
          <p:cNvPr id="9" name="Text 7"/>
          <p:cNvSpPr/>
          <p:nvPr/>
        </p:nvSpPr>
        <p:spPr>
          <a:xfrm>
            <a:off x="914400" y="1572768"/>
            <a:ext cx="2926080" cy="164592"/>
          </a:xfrm>
          <a:prstGeom prst="rect">
            <a:avLst/>
          </a:prstGeom>
          <a:noFill/>
          <a:ln/>
        </p:spPr>
        <p:txBody>
          <a:bodyPr wrap="square" rtlCol="0" anchor="ctr"/>
          <a:lstStyle/>
          <a:p>
            <a:pPr marL="0" indent="0" algn="ctr">
              <a:buNone/>
            </a:pPr>
            <a:r>
              <a:rPr lang="en-US" sz="1500" b="1" dirty="0">
                <a:solidFill>
                  <a:srgbClr val="C44E52"/>
                </a:solidFill>
              </a:rPr>
              <a:t>What went wrong in the earlier milestone?</a:t>
            </a:r>
            <a:endParaRPr lang="en-US" sz="1500" dirty="0"/>
          </a:p>
        </p:txBody>
      </p:sp>
      <p:sp>
        <p:nvSpPr>
          <p:cNvPr id="10" name="Text 8"/>
          <p:cNvSpPr/>
          <p:nvPr/>
        </p:nvSpPr>
        <p:spPr>
          <a:xfrm>
            <a:off x="914400" y="1874520"/>
            <a:ext cx="3246120" cy="1417320"/>
          </a:xfrm>
          <a:prstGeom prst="rect">
            <a:avLst/>
          </a:prstGeom>
          <a:noFill/>
          <a:ln/>
        </p:spPr>
        <p:txBody>
          <a:bodyPr wrap="square" lIns="25400" tIns="25400" rIns="25400" bIns="25400" rtlCol="0" anchor="t"/>
          <a:lstStyle/>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The local Adult CSV stored the sensitive field as “sex:” rather than “sex.”</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The old preprocessing path missed that field and collapsed records into a fallback group.</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Adult fairness metrics were therefore forced to zero across every model.</a:t>
            </a:r>
            <a:endParaRPr lang="en-US" sz="1450" dirty="0"/>
          </a:p>
        </p:txBody>
      </p:sp>
      <p:sp>
        <p:nvSpPr>
          <p:cNvPr id="11" name="Text 9"/>
          <p:cNvSpPr/>
          <p:nvPr/>
        </p:nvSpPr>
        <p:spPr>
          <a:xfrm>
            <a:off x="914400" y="3792977"/>
            <a:ext cx="2743200" cy="164592"/>
          </a:xfrm>
          <a:prstGeom prst="rect">
            <a:avLst/>
          </a:prstGeom>
          <a:noFill/>
          <a:ln/>
        </p:spPr>
        <p:txBody>
          <a:bodyPr wrap="square" rtlCol="0" anchor="ctr"/>
          <a:lstStyle/>
          <a:p>
            <a:pPr marL="0" indent="0" algn="ctr">
              <a:buNone/>
            </a:pPr>
            <a:r>
              <a:rPr lang="en-US" sz="1500" b="1" dirty="0">
                <a:solidFill>
                  <a:srgbClr val="4CAF50"/>
                </a:solidFill>
              </a:rPr>
              <a:t>Why the fix matters</a:t>
            </a:r>
            <a:endParaRPr lang="en-US" sz="1500" dirty="0"/>
          </a:p>
        </p:txBody>
      </p:sp>
      <p:sp>
        <p:nvSpPr>
          <p:cNvPr id="12" name="Text 10"/>
          <p:cNvSpPr/>
          <p:nvPr/>
        </p:nvSpPr>
        <p:spPr>
          <a:xfrm>
            <a:off x="891540" y="4137660"/>
            <a:ext cx="3246120" cy="868680"/>
          </a:xfrm>
          <a:prstGeom prst="rect">
            <a:avLst/>
          </a:prstGeom>
          <a:noFill/>
          <a:ln/>
        </p:spPr>
        <p:txBody>
          <a:bodyPr wrap="square" lIns="25400" tIns="25400" rIns="25400" bIns="25400" rtlCol="0" anchor="t"/>
          <a:lstStyle/>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The corrected rerun restores non-zero Adult disparities for all seven models.</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This makes the benchmark more credible because reproducibility checks are part of the audit itself.</a:t>
            </a:r>
            <a:endParaRPr lang="en-US" sz="1450" dirty="0"/>
          </a:p>
        </p:txBody>
      </p:sp>
      <p:sp>
        <p:nvSpPr>
          <p:cNvPr id="13" name="Shape 11"/>
          <p:cNvSpPr/>
          <p:nvPr/>
        </p:nvSpPr>
        <p:spPr>
          <a:xfrm>
            <a:off x="4800600" y="1325880"/>
            <a:ext cx="2057400" cy="3246120"/>
          </a:xfrm>
          <a:prstGeom prst="roundRect">
            <a:avLst>
              <a:gd name="adj" fmla="val 2667"/>
            </a:avLst>
          </a:prstGeom>
          <a:solidFill>
            <a:srgbClr val="FFF7F7"/>
          </a:solidFill>
          <a:ln w="12700">
            <a:solidFill>
              <a:srgbClr val="E6C7CA"/>
            </a:solidFill>
            <a:prstDash val="solid"/>
          </a:ln>
        </p:spPr>
        <p:txBody>
          <a:bodyPr/>
          <a:lstStyle/>
          <a:p>
            <a:endParaRPr lang="en-US"/>
          </a:p>
        </p:txBody>
      </p:sp>
      <p:sp>
        <p:nvSpPr>
          <p:cNvPr id="14" name="Text 12"/>
          <p:cNvSpPr/>
          <p:nvPr/>
        </p:nvSpPr>
        <p:spPr>
          <a:xfrm>
            <a:off x="5212080" y="1691640"/>
            <a:ext cx="1234440" cy="182880"/>
          </a:xfrm>
          <a:prstGeom prst="rect">
            <a:avLst/>
          </a:prstGeom>
          <a:noFill/>
          <a:ln/>
        </p:spPr>
        <p:txBody>
          <a:bodyPr wrap="square" rtlCol="0" anchor="ctr"/>
          <a:lstStyle/>
          <a:p>
            <a:pPr marL="0" indent="0" algn="ctr">
              <a:buNone/>
            </a:pPr>
            <a:r>
              <a:rPr lang="en-US" sz="1800" b="1" dirty="0">
                <a:solidFill>
                  <a:srgbClr val="C44E52"/>
                </a:solidFill>
              </a:rPr>
              <a:t>Before</a:t>
            </a:r>
            <a:endParaRPr lang="en-US" sz="1800" dirty="0"/>
          </a:p>
        </p:txBody>
      </p:sp>
      <p:sp>
        <p:nvSpPr>
          <p:cNvPr id="15" name="Text 13"/>
          <p:cNvSpPr/>
          <p:nvPr/>
        </p:nvSpPr>
        <p:spPr>
          <a:xfrm>
            <a:off x="4973444" y="2148840"/>
            <a:ext cx="1500508" cy="1371600"/>
          </a:xfrm>
          <a:prstGeom prst="rect">
            <a:avLst/>
          </a:prstGeom>
          <a:noFill/>
          <a:ln/>
        </p:spPr>
        <p:txBody>
          <a:bodyPr wrap="square" rtlCol="0" anchor="ctr"/>
          <a:lstStyle/>
          <a:p>
            <a:pPr marL="0" indent="0" algn="ctr">
              <a:buNone/>
            </a:pPr>
            <a:r>
              <a:rPr lang="en-US" sz="2000" b="1" dirty="0">
                <a:solidFill>
                  <a:srgbClr val="C44E52"/>
                </a:solidFill>
              </a:rPr>
              <a:t>Adult disparities</a:t>
            </a:r>
            <a:endParaRPr lang="en-US" sz="2000" dirty="0"/>
          </a:p>
          <a:p>
            <a:pPr marL="0" indent="0" algn="ctr">
              <a:buNone/>
            </a:pPr>
            <a:r>
              <a:rPr lang="en-US" sz="2000" b="1" dirty="0">
                <a:solidFill>
                  <a:srgbClr val="C44E52"/>
                </a:solidFill>
              </a:rPr>
              <a:t>= 0.000</a:t>
            </a:r>
            <a:endParaRPr lang="en-US" sz="2000" dirty="0"/>
          </a:p>
          <a:p>
            <a:pPr marL="0" indent="0" algn="ctr">
              <a:buNone/>
            </a:pPr>
            <a:r>
              <a:rPr lang="en-US" sz="2000" b="1" dirty="0">
                <a:solidFill>
                  <a:srgbClr val="C44E52"/>
                </a:solidFill>
              </a:rPr>
              <a:t>for every</a:t>
            </a:r>
            <a:endParaRPr lang="en-US" sz="2000" dirty="0"/>
          </a:p>
          <a:p>
            <a:pPr marL="0" indent="0" algn="ctr">
              <a:buNone/>
            </a:pPr>
            <a:r>
              <a:rPr lang="en-US" sz="2000" b="1" dirty="0">
                <a:solidFill>
                  <a:srgbClr val="C44E52"/>
                </a:solidFill>
              </a:rPr>
              <a:t>model</a:t>
            </a:r>
            <a:endParaRPr lang="en-US" sz="2000" dirty="0"/>
          </a:p>
        </p:txBody>
      </p:sp>
      <p:sp>
        <p:nvSpPr>
          <p:cNvPr id="16" name="Shape 14"/>
          <p:cNvSpPr/>
          <p:nvPr/>
        </p:nvSpPr>
        <p:spPr>
          <a:xfrm>
            <a:off x="7086600" y="2953512"/>
            <a:ext cx="731520" cy="0"/>
          </a:xfrm>
          <a:prstGeom prst="line">
            <a:avLst/>
          </a:prstGeom>
          <a:noFill/>
          <a:ln w="12700">
            <a:solidFill>
              <a:srgbClr val="17324D"/>
            </a:solidFill>
            <a:prstDash val="solid"/>
            <a:headEnd type="none"/>
            <a:tailEnd type="triangle"/>
          </a:ln>
        </p:spPr>
        <p:txBody>
          <a:bodyPr/>
          <a:lstStyle/>
          <a:p>
            <a:endParaRPr lang="en-US"/>
          </a:p>
        </p:txBody>
      </p:sp>
      <p:sp>
        <p:nvSpPr>
          <p:cNvPr id="17" name="Shape 15"/>
          <p:cNvSpPr/>
          <p:nvPr/>
        </p:nvSpPr>
        <p:spPr>
          <a:xfrm>
            <a:off x="7909560" y="1325880"/>
            <a:ext cx="3611880" cy="3246120"/>
          </a:xfrm>
          <a:prstGeom prst="roundRect">
            <a:avLst>
              <a:gd name="adj" fmla="val 1690"/>
            </a:avLst>
          </a:prstGeom>
          <a:solidFill>
            <a:srgbClr val="F4FBF5"/>
          </a:solidFill>
          <a:ln w="12700">
            <a:solidFill>
              <a:srgbClr val="CFE5D4"/>
            </a:solidFill>
            <a:prstDash val="solid"/>
          </a:ln>
        </p:spPr>
        <p:txBody>
          <a:bodyPr/>
          <a:lstStyle/>
          <a:p>
            <a:endParaRPr lang="en-US"/>
          </a:p>
        </p:txBody>
      </p:sp>
      <p:sp>
        <p:nvSpPr>
          <p:cNvPr id="18" name="Text 16"/>
          <p:cNvSpPr/>
          <p:nvPr/>
        </p:nvSpPr>
        <p:spPr>
          <a:xfrm>
            <a:off x="9144000" y="1691640"/>
            <a:ext cx="1097280" cy="182880"/>
          </a:xfrm>
          <a:prstGeom prst="rect">
            <a:avLst/>
          </a:prstGeom>
          <a:noFill/>
          <a:ln/>
        </p:spPr>
        <p:txBody>
          <a:bodyPr wrap="square" rtlCol="0" anchor="ctr"/>
          <a:lstStyle/>
          <a:p>
            <a:pPr marL="0" indent="0" algn="ctr">
              <a:buNone/>
            </a:pPr>
            <a:r>
              <a:rPr lang="en-US" sz="1800" b="1" dirty="0">
                <a:solidFill>
                  <a:srgbClr val="4CAF50"/>
                </a:solidFill>
              </a:rPr>
              <a:t>After</a:t>
            </a:r>
            <a:endParaRPr lang="en-US" sz="1800" dirty="0"/>
          </a:p>
        </p:txBody>
      </p:sp>
      <p:sp>
        <p:nvSpPr>
          <p:cNvPr id="19" name="Text 17"/>
          <p:cNvSpPr/>
          <p:nvPr/>
        </p:nvSpPr>
        <p:spPr>
          <a:xfrm>
            <a:off x="8366760" y="2103120"/>
            <a:ext cx="2697480" cy="1051560"/>
          </a:xfrm>
          <a:prstGeom prst="rect">
            <a:avLst/>
          </a:prstGeom>
          <a:noFill/>
          <a:ln/>
        </p:spPr>
        <p:txBody>
          <a:bodyPr wrap="square" rtlCol="0" anchor="ctr"/>
          <a:lstStyle/>
          <a:p>
            <a:pPr marL="0" indent="0" algn="ctr">
              <a:buNone/>
            </a:pPr>
            <a:r>
              <a:rPr lang="en-US" sz="2000" b="1" dirty="0">
                <a:solidFill>
                  <a:srgbClr val="4CAF50"/>
                </a:solidFill>
              </a:rPr>
              <a:t>Adult now shows non-zero</a:t>
            </a:r>
            <a:endParaRPr lang="en-US" sz="2000" dirty="0"/>
          </a:p>
          <a:p>
            <a:pPr marL="0" indent="0" algn="ctr">
              <a:buNone/>
            </a:pPr>
            <a:r>
              <a:rPr lang="en-US" sz="2000" b="1" dirty="0">
                <a:solidFill>
                  <a:srgbClr val="4CAF50"/>
                </a:solidFill>
              </a:rPr>
              <a:t>DP, EO, and PP</a:t>
            </a:r>
            <a:endParaRPr lang="en-US" sz="2000" dirty="0"/>
          </a:p>
          <a:p>
            <a:pPr marL="0" indent="0" algn="ctr">
              <a:buNone/>
            </a:pPr>
            <a:r>
              <a:rPr lang="en-US" sz="2000" b="1" dirty="0">
                <a:solidFill>
                  <a:srgbClr val="4CAF50"/>
                </a:solidFill>
              </a:rPr>
              <a:t>across all seven models</a:t>
            </a:r>
            <a:endParaRPr lang="en-US" sz="2000" dirty="0"/>
          </a:p>
        </p:txBody>
      </p:sp>
      <p:sp>
        <p:nvSpPr>
          <p:cNvPr id="20" name="Text 18"/>
          <p:cNvSpPr/>
          <p:nvPr/>
        </p:nvSpPr>
        <p:spPr>
          <a:xfrm>
            <a:off x="8183880" y="3840480"/>
            <a:ext cx="3063240" cy="457200"/>
          </a:xfrm>
          <a:prstGeom prst="rect">
            <a:avLst/>
          </a:prstGeom>
          <a:noFill/>
          <a:ln/>
        </p:spPr>
        <p:txBody>
          <a:bodyPr wrap="square" rtlCol="0" anchor="ctr"/>
          <a:lstStyle/>
          <a:p>
            <a:pPr marL="0" indent="0" algn="ctr">
              <a:buNone/>
            </a:pPr>
            <a:r>
              <a:rPr lang="en-US" sz="1350" i="1" dirty="0">
                <a:solidFill>
                  <a:srgbClr val="1F2937"/>
                </a:solidFill>
              </a:rPr>
              <a:t>Bottom line: debugging the data pipeline changed the scientific interpretation.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Corrected benchmark results: performance and disparities</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7</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pic>
        <p:nvPicPr>
          <p:cNvPr id="8" name="Image 0" descr="/mnt/data/user-CvHvVg12W6MgAwIHEKbapUT1/460b675e55bd46f2931414ed506d4770/mnt/data/report_extract/word/media/image2.png"/>
          <p:cNvPicPr>
            <a:picLocks noChangeAspect="1"/>
          </p:cNvPicPr>
          <p:nvPr/>
        </p:nvPicPr>
        <p:blipFill>
          <a:blip r:embed="rId3"/>
          <a:stretch>
            <a:fillRect/>
          </a:stretch>
        </p:blipFill>
        <p:spPr>
          <a:xfrm>
            <a:off x="658368" y="1579418"/>
            <a:ext cx="5349240" cy="2647604"/>
          </a:xfrm>
          <a:prstGeom prst="rect">
            <a:avLst/>
          </a:prstGeom>
        </p:spPr>
      </p:pic>
      <p:pic>
        <p:nvPicPr>
          <p:cNvPr id="9" name="Image 1" descr="/mnt/data/user-CvHvVg12W6MgAwIHEKbapUT1/460b675e55bd46f2931414ed506d4770/mnt/data/report_extract/word/media/image3.png"/>
          <p:cNvPicPr>
            <a:picLocks noChangeAspect="1"/>
          </p:cNvPicPr>
          <p:nvPr/>
        </p:nvPicPr>
        <p:blipFill>
          <a:blip r:embed="rId4"/>
          <a:stretch>
            <a:fillRect/>
          </a:stretch>
        </p:blipFill>
        <p:spPr>
          <a:xfrm>
            <a:off x="6199632" y="1579418"/>
            <a:ext cx="5349240" cy="2647604"/>
          </a:xfrm>
          <a:prstGeom prst="rect">
            <a:avLst/>
          </a:prstGeom>
        </p:spPr>
      </p:pic>
      <p:sp>
        <p:nvSpPr>
          <p:cNvPr id="10" name="Shape 6"/>
          <p:cNvSpPr/>
          <p:nvPr/>
        </p:nvSpPr>
        <p:spPr>
          <a:xfrm>
            <a:off x="841248" y="4828032"/>
            <a:ext cx="10972800" cy="914400"/>
          </a:xfrm>
          <a:prstGeom prst="roundRect">
            <a:avLst>
              <a:gd name="adj" fmla="val 5000"/>
            </a:avLst>
          </a:prstGeom>
          <a:solidFill>
            <a:srgbClr val="FFFFFF"/>
          </a:solidFill>
          <a:ln w="12700">
            <a:solidFill>
              <a:srgbClr val="D7DEE7"/>
            </a:solidFill>
            <a:prstDash val="solid"/>
          </a:ln>
        </p:spPr>
        <p:txBody>
          <a:bodyPr/>
          <a:lstStyle/>
          <a:p>
            <a:endParaRPr lang="en-US"/>
          </a:p>
        </p:txBody>
      </p:sp>
      <p:sp>
        <p:nvSpPr>
          <p:cNvPr id="11" name="Text 7"/>
          <p:cNvSpPr/>
          <p:nvPr/>
        </p:nvSpPr>
        <p:spPr>
          <a:xfrm>
            <a:off x="1051560" y="5102352"/>
            <a:ext cx="10515600" cy="384048"/>
          </a:xfrm>
          <a:prstGeom prst="rect">
            <a:avLst/>
          </a:prstGeom>
          <a:noFill/>
          <a:ln/>
        </p:spPr>
        <p:txBody>
          <a:bodyPr wrap="square" rtlCol="0" anchor="ctr"/>
          <a:lstStyle/>
          <a:p>
            <a:pPr marL="0" indent="0" algn="ctr">
              <a:buNone/>
            </a:pPr>
            <a:r>
              <a:rPr lang="en-US" sz="1600" b="1" dirty="0">
                <a:solidFill>
                  <a:srgbClr val="1F2937"/>
                </a:solidFill>
              </a:rPr>
              <a:t>Takeaway: predictive performance varies across datasets, and fairness disparities remain non-zero after the Adult correction. The “best” model depends on whether you prioritize utility, selection-rate parity, or error parity.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What the corrected results mean</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8</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Shape 6"/>
          <p:cNvSpPr/>
          <p:nvPr/>
        </p:nvSpPr>
        <p:spPr>
          <a:xfrm>
            <a:off x="685800" y="1325880"/>
            <a:ext cx="5486400" cy="4526280"/>
          </a:xfrm>
          <a:prstGeom prst="roundRect">
            <a:avLst>
              <a:gd name="adj" fmla="val 1212"/>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914400" y="1572768"/>
            <a:ext cx="1828800" cy="164592"/>
          </a:xfrm>
          <a:prstGeom prst="rect">
            <a:avLst/>
          </a:prstGeom>
          <a:noFill/>
          <a:ln/>
        </p:spPr>
        <p:txBody>
          <a:bodyPr wrap="square" rtlCol="0" anchor="ctr"/>
          <a:lstStyle/>
          <a:p>
            <a:pPr marL="0" indent="0">
              <a:buNone/>
            </a:pPr>
            <a:r>
              <a:rPr lang="en-US" sz="1500" b="1" dirty="0">
                <a:solidFill>
                  <a:srgbClr val="17324D"/>
                </a:solidFill>
              </a:rPr>
              <a:t>Dataset-level findings</a:t>
            </a:r>
            <a:endParaRPr lang="en-US" sz="1500" dirty="0"/>
          </a:p>
        </p:txBody>
      </p:sp>
      <p:sp>
        <p:nvSpPr>
          <p:cNvPr id="10" name="Text 8"/>
          <p:cNvSpPr/>
          <p:nvPr/>
        </p:nvSpPr>
        <p:spPr>
          <a:xfrm>
            <a:off x="914400" y="1920240"/>
            <a:ext cx="914400" cy="164592"/>
          </a:xfrm>
          <a:prstGeom prst="rect">
            <a:avLst/>
          </a:prstGeom>
          <a:noFill/>
          <a:ln/>
        </p:spPr>
        <p:txBody>
          <a:bodyPr wrap="square" rtlCol="0" anchor="ctr"/>
          <a:lstStyle/>
          <a:p>
            <a:pPr marL="0" indent="0">
              <a:buNone/>
            </a:pPr>
            <a:r>
              <a:rPr lang="en-US" sz="1450" b="1" dirty="0">
                <a:solidFill>
                  <a:srgbClr val="2F6B9A"/>
                </a:solidFill>
              </a:rPr>
              <a:t>Adult</a:t>
            </a:r>
            <a:endParaRPr lang="en-US" sz="1450" dirty="0"/>
          </a:p>
        </p:txBody>
      </p:sp>
      <p:sp>
        <p:nvSpPr>
          <p:cNvPr id="11" name="Text 9"/>
          <p:cNvSpPr/>
          <p:nvPr/>
        </p:nvSpPr>
        <p:spPr>
          <a:xfrm>
            <a:off x="914400" y="2139696"/>
            <a:ext cx="4754880" cy="457200"/>
          </a:xfrm>
          <a:prstGeom prst="rect">
            <a:avLst/>
          </a:prstGeom>
          <a:noFill/>
          <a:ln/>
        </p:spPr>
        <p:txBody>
          <a:bodyPr wrap="square" rtlCol="0" anchor="ctr"/>
          <a:lstStyle/>
          <a:p>
            <a:pPr marL="0" indent="0">
              <a:buNone/>
            </a:pPr>
            <a:r>
              <a:rPr lang="en-US" sz="1400" dirty="0">
                <a:solidFill>
                  <a:srgbClr val="1F2937"/>
                </a:solidFill>
              </a:rPr>
              <a:t>No model is disparity-free after the correction. Gradient boosting is strongest on accuracy, but not every metric tells the same story.</a:t>
            </a:r>
            <a:endParaRPr lang="en-US" sz="1400" dirty="0"/>
          </a:p>
        </p:txBody>
      </p:sp>
      <p:sp>
        <p:nvSpPr>
          <p:cNvPr id="12" name="Text 10"/>
          <p:cNvSpPr/>
          <p:nvPr/>
        </p:nvSpPr>
        <p:spPr>
          <a:xfrm>
            <a:off x="914400" y="2816352"/>
            <a:ext cx="1097280" cy="164592"/>
          </a:xfrm>
          <a:prstGeom prst="rect">
            <a:avLst/>
          </a:prstGeom>
          <a:noFill/>
          <a:ln/>
        </p:spPr>
        <p:txBody>
          <a:bodyPr wrap="square" rtlCol="0" anchor="ctr"/>
          <a:lstStyle/>
          <a:p>
            <a:pPr marL="0" indent="0">
              <a:buNone/>
            </a:pPr>
            <a:r>
              <a:rPr lang="en-US" sz="1450" b="1" dirty="0">
                <a:solidFill>
                  <a:srgbClr val="E38B2C"/>
                </a:solidFill>
              </a:rPr>
              <a:t>COMPAS</a:t>
            </a:r>
            <a:endParaRPr lang="en-US" sz="1450" dirty="0"/>
          </a:p>
        </p:txBody>
      </p:sp>
      <p:sp>
        <p:nvSpPr>
          <p:cNvPr id="13" name="Text 11"/>
          <p:cNvSpPr/>
          <p:nvPr/>
        </p:nvSpPr>
        <p:spPr>
          <a:xfrm>
            <a:off x="914400" y="3035808"/>
            <a:ext cx="4754880" cy="457200"/>
          </a:xfrm>
          <a:prstGeom prst="rect">
            <a:avLst/>
          </a:prstGeom>
          <a:noFill/>
          <a:ln/>
        </p:spPr>
        <p:txBody>
          <a:bodyPr wrap="square" rtlCol="0" anchor="ctr"/>
          <a:lstStyle/>
          <a:p>
            <a:pPr marL="0" indent="0">
              <a:buNone/>
            </a:pPr>
            <a:r>
              <a:rPr lang="en-US" sz="1400" dirty="0">
                <a:solidFill>
                  <a:srgbClr val="1F2937"/>
                </a:solidFill>
              </a:rPr>
              <a:t>Several models are highly accurate, yet the fairness picture is still nontrivial. Strong predictive performance does not settle the fairness ranking.</a:t>
            </a:r>
            <a:endParaRPr lang="en-US" sz="1400" dirty="0"/>
          </a:p>
        </p:txBody>
      </p:sp>
      <p:sp>
        <p:nvSpPr>
          <p:cNvPr id="14" name="Text 12"/>
          <p:cNvSpPr/>
          <p:nvPr/>
        </p:nvSpPr>
        <p:spPr>
          <a:xfrm>
            <a:off x="914400" y="3703320"/>
            <a:ext cx="1371600" cy="164592"/>
          </a:xfrm>
          <a:prstGeom prst="rect">
            <a:avLst/>
          </a:prstGeom>
          <a:noFill/>
          <a:ln/>
        </p:spPr>
        <p:txBody>
          <a:bodyPr wrap="square" rtlCol="0" anchor="ctr"/>
          <a:lstStyle/>
          <a:p>
            <a:pPr marL="0" indent="0">
              <a:buNone/>
            </a:pPr>
            <a:r>
              <a:rPr lang="en-US" sz="1450" b="1" dirty="0">
                <a:solidFill>
                  <a:srgbClr val="4CAF50"/>
                </a:solidFill>
              </a:rPr>
              <a:t>German Credit</a:t>
            </a:r>
            <a:endParaRPr lang="en-US" sz="1450" dirty="0"/>
          </a:p>
        </p:txBody>
      </p:sp>
      <p:sp>
        <p:nvSpPr>
          <p:cNvPr id="15" name="Text 13"/>
          <p:cNvSpPr/>
          <p:nvPr/>
        </p:nvSpPr>
        <p:spPr>
          <a:xfrm>
            <a:off x="914400" y="3922776"/>
            <a:ext cx="4754880" cy="502920"/>
          </a:xfrm>
          <a:prstGeom prst="rect">
            <a:avLst/>
          </a:prstGeom>
          <a:noFill/>
          <a:ln/>
        </p:spPr>
        <p:txBody>
          <a:bodyPr wrap="square" rtlCol="0" anchor="ctr"/>
          <a:lstStyle/>
          <a:p>
            <a:pPr marL="0" indent="0">
              <a:buNone/>
            </a:pPr>
            <a:r>
              <a:rPr lang="en-US" sz="1400" dirty="0">
                <a:solidFill>
                  <a:srgbClr val="1F2937"/>
                </a:solidFill>
              </a:rPr>
              <a:t>The benchmark is smaller and noisier, which makes the intervals and comparisons more important. A zero value on one metric does not imply broad fairness.</a:t>
            </a:r>
            <a:endParaRPr lang="en-US" sz="1400" dirty="0"/>
          </a:p>
        </p:txBody>
      </p:sp>
      <p:pic>
        <p:nvPicPr>
          <p:cNvPr id="16" name="Image 0" descr="/mnt/data/user-CvHvVg12W6MgAwIHEKbapUT1/460b675e55bd46f2931414ed506d4770/mnt/data/report_extract/word/media/image5.png"/>
          <p:cNvPicPr>
            <a:picLocks noChangeAspect="1"/>
          </p:cNvPicPr>
          <p:nvPr/>
        </p:nvPicPr>
        <p:blipFill>
          <a:blip r:embed="rId3"/>
          <a:stretch>
            <a:fillRect/>
          </a:stretch>
        </p:blipFill>
        <p:spPr>
          <a:xfrm>
            <a:off x="6446520" y="1468858"/>
            <a:ext cx="5074920" cy="4057444"/>
          </a:xfrm>
          <a:prstGeom prst="rect">
            <a:avLst/>
          </a:prstGeom>
        </p:spPr>
      </p:pic>
      <p:sp>
        <p:nvSpPr>
          <p:cNvPr id="17" name="Shape 14"/>
          <p:cNvSpPr/>
          <p:nvPr/>
        </p:nvSpPr>
        <p:spPr>
          <a:xfrm>
            <a:off x="6583680" y="5669280"/>
            <a:ext cx="4754880" cy="658368"/>
          </a:xfrm>
          <a:prstGeom prst="roundRect">
            <a:avLst>
              <a:gd name="adj" fmla="val 6944"/>
            </a:avLst>
          </a:prstGeom>
          <a:solidFill>
            <a:srgbClr val="EAF2F8"/>
          </a:solidFill>
          <a:ln w="12700">
            <a:solidFill>
              <a:srgbClr val="D7DEE7"/>
            </a:solidFill>
            <a:prstDash val="solid"/>
          </a:ln>
        </p:spPr>
        <p:txBody>
          <a:bodyPr/>
          <a:lstStyle/>
          <a:p>
            <a:endParaRPr lang="en-US"/>
          </a:p>
        </p:txBody>
      </p:sp>
      <p:sp>
        <p:nvSpPr>
          <p:cNvPr id="18" name="Text 15"/>
          <p:cNvSpPr/>
          <p:nvPr/>
        </p:nvSpPr>
        <p:spPr>
          <a:xfrm>
            <a:off x="6784848" y="5888736"/>
            <a:ext cx="4370832" cy="219456"/>
          </a:xfrm>
          <a:prstGeom prst="rect">
            <a:avLst/>
          </a:prstGeom>
          <a:noFill/>
          <a:ln/>
        </p:spPr>
        <p:txBody>
          <a:bodyPr wrap="square" rtlCol="0" anchor="ctr"/>
          <a:lstStyle/>
          <a:p>
            <a:pPr marL="0" indent="0" algn="ctr">
              <a:buNone/>
            </a:pPr>
            <a:r>
              <a:rPr lang="en-US" sz="1450" b="1" dirty="0">
                <a:solidFill>
                  <a:srgbClr val="1F2937"/>
                </a:solidFill>
              </a:rPr>
              <a:t>Agreement is partial, not complete. Equalized odds and accuracy are moderately negatively associated (τ ≈ -0.58).</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Cross-modal outputs and reproducibility evidence</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9</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Shape 6"/>
          <p:cNvSpPr/>
          <p:nvPr/>
        </p:nvSpPr>
        <p:spPr>
          <a:xfrm>
            <a:off x="841248" y="1463040"/>
            <a:ext cx="1874520" cy="1170432"/>
          </a:xfrm>
          <a:prstGeom prst="roundRect">
            <a:avLst>
              <a:gd name="adj" fmla="val 6250"/>
            </a:avLst>
          </a:prstGeom>
          <a:solidFill>
            <a:srgbClr val="2F6B9A"/>
          </a:solidFill>
          <a:ln w="12700">
            <a:solidFill>
              <a:srgbClr val="2F6B9A"/>
            </a:solidFill>
            <a:prstDash val="solid"/>
          </a:ln>
          <a:effectLst>
            <a:outerShdw blurRad="12700" dist="6350" dir="2700000" algn="bl" rotWithShape="0">
              <a:srgbClr val="000000">
                <a:alpha val="12000"/>
              </a:srgbClr>
            </a:outerShdw>
          </a:effectLst>
        </p:spPr>
        <p:txBody>
          <a:bodyPr/>
          <a:lstStyle/>
          <a:p>
            <a:endParaRPr lang="en-US"/>
          </a:p>
        </p:txBody>
      </p:sp>
      <p:sp>
        <p:nvSpPr>
          <p:cNvPr id="9" name="Text 7"/>
          <p:cNvSpPr/>
          <p:nvPr/>
        </p:nvSpPr>
        <p:spPr>
          <a:xfrm>
            <a:off x="969264" y="1609344"/>
            <a:ext cx="1618488" cy="274320"/>
          </a:xfrm>
          <a:prstGeom prst="rect">
            <a:avLst/>
          </a:prstGeom>
          <a:noFill/>
          <a:ln/>
        </p:spPr>
        <p:txBody>
          <a:bodyPr wrap="square" rtlCol="0" anchor="ctr"/>
          <a:lstStyle/>
          <a:p>
            <a:pPr marL="0" indent="0" algn="ctr">
              <a:buNone/>
            </a:pPr>
            <a:r>
              <a:rPr lang="en-US" sz="2000" b="1" dirty="0">
                <a:solidFill>
                  <a:srgbClr val="FFFFFF"/>
                </a:solidFill>
              </a:rPr>
              <a:t>0.940</a:t>
            </a:r>
            <a:endParaRPr lang="en-US" sz="2000" dirty="0"/>
          </a:p>
        </p:txBody>
      </p:sp>
      <p:sp>
        <p:nvSpPr>
          <p:cNvPr id="10" name="Text 8"/>
          <p:cNvSpPr/>
          <p:nvPr/>
        </p:nvSpPr>
        <p:spPr>
          <a:xfrm>
            <a:off x="932688" y="1938528"/>
            <a:ext cx="1691640" cy="256032"/>
          </a:xfrm>
          <a:prstGeom prst="rect">
            <a:avLst/>
          </a:prstGeom>
          <a:noFill/>
          <a:ln/>
        </p:spPr>
        <p:txBody>
          <a:bodyPr wrap="square" rtlCol="0" anchor="ctr"/>
          <a:lstStyle/>
          <a:p>
            <a:pPr marL="0" indent="0" algn="ctr">
              <a:buNone/>
            </a:pPr>
            <a:r>
              <a:rPr lang="en-US" sz="1050" b="1" dirty="0">
                <a:solidFill>
                  <a:srgbClr val="FFFFFF"/>
                </a:solidFill>
              </a:rPr>
              <a:t>CrowS-Pairs</a:t>
            </a:r>
            <a:endParaRPr lang="en-US" sz="1050" dirty="0"/>
          </a:p>
        </p:txBody>
      </p:sp>
      <p:sp>
        <p:nvSpPr>
          <p:cNvPr id="11" name="Text 9"/>
          <p:cNvSpPr/>
          <p:nvPr/>
        </p:nvSpPr>
        <p:spPr>
          <a:xfrm>
            <a:off x="914400" y="2221992"/>
            <a:ext cx="1728216" cy="329184"/>
          </a:xfrm>
          <a:prstGeom prst="rect">
            <a:avLst/>
          </a:prstGeom>
          <a:noFill/>
          <a:ln/>
        </p:spPr>
        <p:txBody>
          <a:bodyPr wrap="square" rtlCol="0" anchor="ctr"/>
          <a:lstStyle/>
          <a:p>
            <a:pPr marL="0" indent="0" algn="ctr">
              <a:buNone/>
            </a:pPr>
            <a:r>
              <a:rPr lang="en-US" sz="850" dirty="0">
                <a:solidFill>
                  <a:srgbClr val="EEF4F8"/>
                </a:solidFill>
              </a:rPr>
              <a:t>Saved output accuracy over 50 evaluated sentence-pair judgments</a:t>
            </a:r>
            <a:endParaRPr lang="en-US" sz="850" dirty="0"/>
          </a:p>
        </p:txBody>
      </p:sp>
      <p:sp>
        <p:nvSpPr>
          <p:cNvPr id="12" name="Shape 10"/>
          <p:cNvSpPr/>
          <p:nvPr/>
        </p:nvSpPr>
        <p:spPr>
          <a:xfrm>
            <a:off x="2907792" y="1463040"/>
            <a:ext cx="1874520" cy="1170432"/>
          </a:xfrm>
          <a:prstGeom prst="roundRect">
            <a:avLst>
              <a:gd name="adj" fmla="val 6250"/>
            </a:avLst>
          </a:prstGeom>
          <a:solidFill>
            <a:srgbClr val="2A9D8F"/>
          </a:solidFill>
          <a:ln w="12700">
            <a:solidFill>
              <a:srgbClr val="2A9D8F"/>
            </a:solidFill>
            <a:prstDash val="solid"/>
          </a:ln>
          <a:effectLst>
            <a:outerShdw blurRad="12700" dist="6350" dir="2700000" algn="bl" rotWithShape="0">
              <a:srgbClr val="000000">
                <a:alpha val="12000"/>
              </a:srgbClr>
            </a:outerShdw>
          </a:effectLst>
        </p:spPr>
        <p:txBody>
          <a:bodyPr/>
          <a:lstStyle/>
          <a:p>
            <a:endParaRPr lang="en-US"/>
          </a:p>
        </p:txBody>
      </p:sp>
      <p:sp>
        <p:nvSpPr>
          <p:cNvPr id="13" name="Text 11"/>
          <p:cNvSpPr/>
          <p:nvPr/>
        </p:nvSpPr>
        <p:spPr>
          <a:xfrm>
            <a:off x="3035808" y="1609344"/>
            <a:ext cx="1618488" cy="274320"/>
          </a:xfrm>
          <a:prstGeom prst="rect">
            <a:avLst/>
          </a:prstGeom>
          <a:noFill/>
          <a:ln/>
        </p:spPr>
        <p:txBody>
          <a:bodyPr wrap="square" rtlCol="0" anchor="ctr"/>
          <a:lstStyle/>
          <a:p>
            <a:pPr marL="0" indent="0" algn="ctr">
              <a:buNone/>
            </a:pPr>
            <a:r>
              <a:rPr lang="en-US" sz="2000" b="1" dirty="0">
                <a:solidFill>
                  <a:srgbClr val="FFFFFF"/>
                </a:solidFill>
              </a:rPr>
              <a:t>0.805</a:t>
            </a:r>
            <a:endParaRPr lang="en-US" sz="2000" dirty="0"/>
          </a:p>
        </p:txBody>
      </p:sp>
      <p:sp>
        <p:nvSpPr>
          <p:cNvPr id="14" name="Text 12"/>
          <p:cNvSpPr/>
          <p:nvPr/>
        </p:nvSpPr>
        <p:spPr>
          <a:xfrm>
            <a:off x="2999232" y="1938528"/>
            <a:ext cx="1691640" cy="256032"/>
          </a:xfrm>
          <a:prstGeom prst="rect">
            <a:avLst/>
          </a:prstGeom>
          <a:noFill/>
          <a:ln/>
        </p:spPr>
        <p:txBody>
          <a:bodyPr wrap="square" rtlCol="0" anchor="ctr"/>
          <a:lstStyle/>
          <a:p>
            <a:pPr marL="0" indent="0" algn="ctr">
              <a:buNone/>
            </a:pPr>
            <a:r>
              <a:rPr lang="en-US" sz="1050" b="1" dirty="0">
                <a:solidFill>
                  <a:srgbClr val="FFFFFF"/>
                </a:solidFill>
              </a:rPr>
              <a:t>BBQ</a:t>
            </a:r>
            <a:endParaRPr lang="en-US" sz="1050" dirty="0"/>
          </a:p>
        </p:txBody>
      </p:sp>
      <p:sp>
        <p:nvSpPr>
          <p:cNvPr id="15" name="Text 13"/>
          <p:cNvSpPr/>
          <p:nvPr/>
        </p:nvSpPr>
        <p:spPr>
          <a:xfrm>
            <a:off x="2980944" y="2221992"/>
            <a:ext cx="1728216" cy="329184"/>
          </a:xfrm>
          <a:prstGeom prst="rect">
            <a:avLst/>
          </a:prstGeom>
          <a:noFill/>
          <a:ln/>
        </p:spPr>
        <p:txBody>
          <a:bodyPr wrap="square" rtlCol="0" anchor="ctr"/>
          <a:lstStyle/>
          <a:p>
            <a:pPr marL="0" indent="0" algn="ctr">
              <a:buNone/>
            </a:pPr>
            <a:r>
              <a:rPr lang="en-US" sz="850" dirty="0">
                <a:solidFill>
                  <a:srgbClr val="EEF4F8"/>
                </a:solidFill>
              </a:rPr>
              <a:t>Saved output accuracy over 200 benchmark items</a:t>
            </a:r>
            <a:endParaRPr lang="en-US" sz="850" dirty="0"/>
          </a:p>
        </p:txBody>
      </p:sp>
      <p:sp>
        <p:nvSpPr>
          <p:cNvPr id="16" name="Shape 14"/>
          <p:cNvSpPr/>
          <p:nvPr/>
        </p:nvSpPr>
        <p:spPr>
          <a:xfrm>
            <a:off x="4974336" y="1463040"/>
            <a:ext cx="1874520" cy="1170432"/>
          </a:xfrm>
          <a:prstGeom prst="roundRect">
            <a:avLst>
              <a:gd name="adj" fmla="val 6250"/>
            </a:avLst>
          </a:prstGeom>
          <a:solidFill>
            <a:srgbClr val="D9A441"/>
          </a:solidFill>
          <a:ln w="12700">
            <a:solidFill>
              <a:srgbClr val="D9A441"/>
            </a:solidFill>
            <a:prstDash val="solid"/>
          </a:ln>
          <a:effectLst>
            <a:outerShdw blurRad="12700" dist="6350" dir="2700000" algn="bl" rotWithShape="0">
              <a:srgbClr val="000000">
                <a:alpha val="12000"/>
              </a:srgbClr>
            </a:outerShdw>
          </a:effectLst>
        </p:spPr>
        <p:txBody>
          <a:bodyPr/>
          <a:lstStyle/>
          <a:p>
            <a:endParaRPr lang="en-US"/>
          </a:p>
        </p:txBody>
      </p:sp>
      <p:sp>
        <p:nvSpPr>
          <p:cNvPr id="17" name="Text 15"/>
          <p:cNvSpPr/>
          <p:nvPr/>
        </p:nvSpPr>
        <p:spPr>
          <a:xfrm>
            <a:off x="5102352" y="1609344"/>
            <a:ext cx="1618488" cy="274320"/>
          </a:xfrm>
          <a:prstGeom prst="rect">
            <a:avLst/>
          </a:prstGeom>
          <a:noFill/>
          <a:ln/>
        </p:spPr>
        <p:txBody>
          <a:bodyPr wrap="square" rtlCol="0" anchor="ctr"/>
          <a:lstStyle/>
          <a:p>
            <a:pPr marL="0" indent="0" algn="ctr">
              <a:buNone/>
            </a:pPr>
            <a:r>
              <a:rPr lang="en-US" sz="2000" b="1" dirty="0">
                <a:solidFill>
                  <a:srgbClr val="FFFFFF"/>
                </a:solidFill>
              </a:rPr>
              <a:t>1.000</a:t>
            </a:r>
            <a:endParaRPr lang="en-US" sz="2000" dirty="0"/>
          </a:p>
        </p:txBody>
      </p:sp>
      <p:sp>
        <p:nvSpPr>
          <p:cNvPr id="18" name="Text 16"/>
          <p:cNvSpPr/>
          <p:nvPr/>
        </p:nvSpPr>
        <p:spPr>
          <a:xfrm>
            <a:off x="5065776" y="1938528"/>
            <a:ext cx="1691640" cy="256032"/>
          </a:xfrm>
          <a:prstGeom prst="rect">
            <a:avLst/>
          </a:prstGeom>
          <a:noFill/>
          <a:ln/>
        </p:spPr>
        <p:txBody>
          <a:bodyPr wrap="square" rtlCol="0" anchor="ctr"/>
          <a:lstStyle/>
          <a:p>
            <a:pPr marL="0" indent="0" algn="ctr">
              <a:buNone/>
            </a:pPr>
            <a:r>
              <a:rPr lang="en-US" sz="1050" b="1" dirty="0">
                <a:solidFill>
                  <a:srgbClr val="FFFFFF"/>
                </a:solidFill>
              </a:rPr>
              <a:t>Fairness judge</a:t>
            </a:r>
            <a:endParaRPr lang="en-US" sz="1050" dirty="0"/>
          </a:p>
        </p:txBody>
      </p:sp>
      <p:sp>
        <p:nvSpPr>
          <p:cNvPr id="19" name="Text 17"/>
          <p:cNvSpPr/>
          <p:nvPr/>
        </p:nvSpPr>
        <p:spPr>
          <a:xfrm>
            <a:off x="5047488" y="2221992"/>
            <a:ext cx="1728216" cy="329184"/>
          </a:xfrm>
          <a:prstGeom prst="rect">
            <a:avLst/>
          </a:prstGeom>
          <a:noFill/>
          <a:ln/>
        </p:spPr>
        <p:txBody>
          <a:bodyPr wrap="square" rtlCol="0" anchor="ctr"/>
          <a:lstStyle/>
          <a:p>
            <a:pPr marL="0" indent="0" algn="ctr">
              <a:buNone/>
            </a:pPr>
            <a:r>
              <a:rPr lang="en-US" sz="850" dirty="0">
                <a:solidFill>
                  <a:srgbClr val="EEF4F8"/>
                </a:solidFill>
              </a:rPr>
              <a:t>Benchmark–judge agreement in the saved summary artifact</a:t>
            </a:r>
            <a:endParaRPr lang="en-US" sz="850" dirty="0"/>
          </a:p>
        </p:txBody>
      </p:sp>
      <p:pic>
        <p:nvPicPr>
          <p:cNvPr id="20" name="Image 0" descr="/mnt/data/user-CvHvVg12W6MgAwIHEKbapUT1/460b675e55bd46f2931414ed506d4770/mnt/data/report_extract/word/media/image6.png"/>
          <p:cNvPicPr>
            <a:picLocks noChangeAspect="1"/>
          </p:cNvPicPr>
          <p:nvPr/>
        </p:nvPicPr>
        <p:blipFill>
          <a:blip r:embed="rId3"/>
          <a:stretch>
            <a:fillRect/>
          </a:stretch>
        </p:blipFill>
        <p:spPr>
          <a:xfrm>
            <a:off x="804672" y="3047614"/>
            <a:ext cx="5440680" cy="1997212"/>
          </a:xfrm>
          <a:prstGeom prst="rect">
            <a:avLst/>
          </a:prstGeom>
        </p:spPr>
      </p:pic>
      <p:sp>
        <p:nvSpPr>
          <p:cNvPr id="21" name="Shape 18"/>
          <p:cNvSpPr/>
          <p:nvPr/>
        </p:nvSpPr>
        <p:spPr>
          <a:xfrm>
            <a:off x="7040880" y="1465270"/>
            <a:ext cx="4709160" cy="3703320"/>
          </a:xfrm>
          <a:prstGeom prst="roundRect">
            <a:avLst>
              <a:gd name="adj" fmla="val 1481"/>
            </a:avLst>
          </a:prstGeom>
          <a:solidFill>
            <a:srgbClr val="FFFFFF"/>
          </a:solidFill>
          <a:ln w="12700">
            <a:solidFill>
              <a:srgbClr val="D7DEE7"/>
            </a:solidFill>
            <a:prstDash val="solid"/>
          </a:ln>
        </p:spPr>
        <p:txBody>
          <a:bodyPr/>
          <a:lstStyle/>
          <a:p>
            <a:endParaRPr lang="en-US"/>
          </a:p>
        </p:txBody>
      </p:sp>
      <p:sp>
        <p:nvSpPr>
          <p:cNvPr id="22" name="Text 19"/>
          <p:cNvSpPr/>
          <p:nvPr/>
        </p:nvSpPr>
        <p:spPr>
          <a:xfrm>
            <a:off x="7269480" y="1739590"/>
            <a:ext cx="1463040" cy="164592"/>
          </a:xfrm>
          <a:prstGeom prst="rect">
            <a:avLst/>
          </a:prstGeom>
          <a:noFill/>
          <a:ln/>
        </p:spPr>
        <p:txBody>
          <a:bodyPr wrap="square" rtlCol="0" anchor="ctr"/>
          <a:lstStyle/>
          <a:p>
            <a:pPr marL="0" indent="0">
              <a:buNone/>
            </a:pPr>
            <a:r>
              <a:rPr lang="en-US" sz="1500" b="1" dirty="0">
                <a:solidFill>
                  <a:srgbClr val="17324D"/>
                </a:solidFill>
              </a:rPr>
              <a:t>Why this matters</a:t>
            </a:r>
            <a:endParaRPr lang="en-US" sz="1500" dirty="0"/>
          </a:p>
        </p:txBody>
      </p:sp>
      <p:sp>
        <p:nvSpPr>
          <p:cNvPr id="23" name="Text 20"/>
          <p:cNvSpPr/>
          <p:nvPr/>
        </p:nvSpPr>
        <p:spPr>
          <a:xfrm>
            <a:off x="7269480" y="2127095"/>
            <a:ext cx="4297680" cy="1417320"/>
          </a:xfrm>
          <a:prstGeom prst="rect">
            <a:avLst/>
          </a:prstGeom>
          <a:noFill/>
          <a:ln/>
        </p:spPr>
        <p:txBody>
          <a:bodyPr wrap="square" lIns="25400" tIns="25400" rIns="25400" bIns="25400" rtlCol="0" anchor="t"/>
          <a:lstStyle/>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The package does more than produce tabular results once; it preserves outputs, a dashboard path, and audit-ready artifacts.</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Named files make the roadmap claims easy to check.</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The report, dashboard, README, code package, and walkthrough all point to the same saved evidence.</a:t>
            </a:r>
            <a:endParaRPr lang="en-US" sz="1450" dirty="0"/>
          </a:p>
        </p:txBody>
      </p:sp>
      <p:sp>
        <p:nvSpPr>
          <p:cNvPr id="24" name="Text 21"/>
          <p:cNvSpPr/>
          <p:nvPr/>
        </p:nvSpPr>
        <p:spPr>
          <a:xfrm>
            <a:off x="7269480" y="4071310"/>
            <a:ext cx="4160520" cy="502920"/>
          </a:xfrm>
          <a:prstGeom prst="rect">
            <a:avLst/>
          </a:prstGeom>
          <a:noFill/>
          <a:ln/>
        </p:spPr>
        <p:txBody>
          <a:bodyPr wrap="square" rtlCol="0" anchor="ctr"/>
          <a:lstStyle/>
          <a:p>
            <a:pPr marL="0" indent="0">
              <a:buNone/>
            </a:pPr>
            <a:r>
              <a:rPr lang="en-US" sz="1450" i="1" dirty="0">
                <a:solidFill>
                  <a:srgbClr val="1F2937"/>
                </a:solidFill>
              </a:rPr>
              <a:t>That makes the final submission easier to defend during both the presentation and the code demo.</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2191695" cy="411480"/>
          </a:xfrm>
          <a:prstGeom prst="rect">
            <a:avLst/>
          </a:prstGeom>
          <a:solidFill>
            <a:srgbClr val="17324D"/>
          </a:solidFill>
          <a:ln w="12700">
            <a:solidFill>
              <a:srgbClr val="17324D"/>
            </a:solidFill>
            <a:prstDash val="solid"/>
          </a:ln>
        </p:spPr>
        <p:txBody>
          <a:bodyPr/>
          <a:lstStyle/>
          <a:p>
            <a:endParaRPr lang="en-US"/>
          </a:p>
        </p:txBody>
      </p:sp>
      <p:sp>
        <p:nvSpPr>
          <p:cNvPr id="3" name="Text 1"/>
          <p:cNvSpPr/>
          <p:nvPr/>
        </p:nvSpPr>
        <p:spPr>
          <a:xfrm>
            <a:off x="256032" y="100584"/>
            <a:ext cx="3017520" cy="146304"/>
          </a:xfrm>
          <a:prstGeom prst="rect">
            <a:avLst/>
          </a:prstGeom>
          <a:noFill/>
          <a:ln/>
        </p:spPr>
        <p:txBody>
          <a:bodyPr wrap="square" rtlCol="0" anchor="ctr"/>
          <a:lstStyle/>
          <a:p>
            <a:pPr marL="0" indent="0">
              <a:buNone/>
            </a:pPr>
            <a:r>
              <a:rPr lang="en-US" sz="850" b="1" dirty="0">
                <a:solidFill>
                  <a:srgbClr val="FFFFFF"/>
                </a:solidFill>
                <a:latin typeface="Aptos" pitchFamily="34" charset="0"/>
                <a:ea typeface="Aptos" pitchFamily="34" charset="-122"/>
                <a:cs typeface="Aptos" pitchFamily="34" charset="-120"/>
              </a:rPr>
              <a:t>FairEval / DTSC 5505</a:t>
            </a:r>
            <a:endParaRPr lang="en-US" sz="850" dirty="0"/>
          </a:p>
        </p:txBody>
      </p:sp>
      <p:sp>
        <p:nvSpPr>
          <p:cNvPr id="4" name="Text 2"/>
          <p:cNvSpPr/>
          <p:nvPr/>
        </p:nvSpPr>
        <p:spPr>
          <a:xfrm>
            <a:off x="502920" y="566928"/>
            <a:ext cx="10424160" cy="384048"/>
          </a:xfrm>
          <a:prstGeom prst="rect">
            <a:avLst/>
          </a:prstGeom>
          <a:noFill/>
          <a:ln/>
        </p:spPr>
        <p:txBody>
          <a:bodyPr wrap="square" lIns="0" tIns="0" rIns="0" bIns="0" rtlCol="0" anchor="ctr"/>
          <a:lstStyle/>
          <a:p>
            <a:pPr marL="0" indent="0">
              <a:buNone/>
            </a:pPr>
            <a:r>
              <a:rPr lang="en-US" sz="2300" b="1" dirty="0">
                <a:solidFill>
                  <a:srgbClr val="1F2937"/>
                </a:solidFill>
                <a:latin typeface="Aptos Display" pitchFamily="34" charset="0"/>
                <a:ea typeface="Aptos Display" pitchFamily="34" charset="-122"/>
                <a:cs typeface="Aptos Display" pitchFamily="34" charset="-120"/>
              </a:rPr>
              <a:t>Limitations, future work, and final takeaways</a:t>
            </a:r>
            <a:endParaRPr lang="en-US" sz="2300" dirty="0"/>
          </a:p>
        </p:txBody>
      </p:sp>
      <p:sp>
        <p:nvSpPr>
          <p:cNvPr id="5" name="Shape 3"/>
          <p:cNvSpPr/>
          <p:nvPr/>
        </p:nvSpPr>
        <p:spPr>
          <a:xfrm>
            <a:off x="502920" y="987552"/>
            <a:ext cx="11064240" cy="0"/>
          </a:xfrm>
          <a:prstGeom prst="line">
            <a:avLst/>
          </a:prstGeom>
          <a:noFill/>
          <a:ln w="12700">
            <a:solidFill>
              <a:srgbClr val="D7DEE7"/>
            </a:solidFill>
            <a:prstDash val="solid"/>
          </a:ln>
        </p:spPr>
        <p:txBody>
          <a:bodyPr/>
          <a:lstStyle/>
          <a:p>
            <a:endParaRPr lang="en-US"/>
          </a:p>
        </p:txBody>
      </p:sp>
      <p:sp>
        <p:nvSpPr>
          <p:cNvPr id="6" name="Text 4"/>
          <p:cNvSpPr/>
          <p:nvPr/>
        </p:nvSpPr>
        <p:spPr>
          <a:xfrm>
            <a:off x="11631168" y="6473952"/>
            <a:ext cx="228600" cy="137160"/>
          </a:xfrm>
          <a:prstGeom prst="rect">
            <a:avLst/>
          </a:prstGeom>
          <a:noFill/>
          <a:ln/>
        </p:spPr>
        <p:txBody>
          <a:bodyPr wrap="square" rtlCol="0" anchor="ctr"/>
          <a:lstStyle/>
          <a:p>
            <a:pPr marL="0" indent="0" algn="ctr">
              <a:buNone/>
            </a:pPr>
            <a:r>
              <a:rPr lang="en-US" sz="900" dirty="0">
                <a:solidFill>
                  <a:srgbClr val="5E6B7A"/>
                </a:solidFill>
              </a:rPr>
              <a:t>10</a:t>
            </a:r>
            <a:endParaRPr lang="en-US" sz="900" dirty="0"/>
          </a:p>
        </p:txBody>
      </p:sp>
      <p:sp>
        <p:nvSpPr>
          <p:cNvPr id="7" name="Text 5"/>
          <p:cNvSpPr/>
          <p:nvPr/>
        </p:nvSpPr>
        <p:spPr>
          <a:xfrm>
            <a:off x="502920" y="6419088"/>
            <a:ext cx="2011680" cy="137160"/>
          </a:xfrm>
          <a:prstGeom prst="rect">
            <a:avLst/>
          </a:prstGeom>
          <a:noFill/>
          <a:ln/>
        </p:spPr>
        <p:txBody>
          <a:bodyPr wrap="square" rtlCol="0" anchor="ctr"/>
          <a:lstStyle/>
          <a:p>
            <a:pPr marL="0" indent="0">
              <a:buNone/>
            </a:pPr>
            <a:r>
              <a:rPr lang="en-US" sz="800" dirty="0">
                <a:solidFill>
                  <a:srgbClr val="7A8796"/>
                </a:solidFill>
              </a:rPr>
              <a:t>Abdul-Azeem Opakunle</a:t>
            </a:r>
            <a:endParaRPr lang="en-US" sz="800" dirty="0"/>
          </a:p>
        </p:txBody>
      </p:sp>
      <p:sp>
        <p:nvSpPr>
          <p:cNvPr id="8" name="Shape 6"/>
          <p:cNvSpPr/>
          <p:nvPr/>
        </p:nvSpPr>
        <p:spPr>
          <a:xfrm>
            <a:off x="685800" y="1325879"/>
            <a:ext cx="5410200" cy="4544559"/>
          </a:xfrm>
          <a:prstGeom prst="roundRect">
            <a:avLst>
              <a:gd name="adj" fmla="val 1429"/>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914400" y="1600200"/>
            <a:ext cx="1371600" cy="164592"/>
          </a:xfrm>
          <a:prstGeom prst="rect">
            <a:avLst/>
          </a:prstGeom>
          <a:noFill/>
          <a:ln/>
        </p:spPr>
        <p:txBody>
          <a:bodyPr wrap="square" rtlCol="0" anchor="ctr"/>
          <a:lstStyle/>
          <a:p>
            <a:pPr marL="0" indent="0">
              <a:buNone/>
            </a:pPr>
            <a:r>
              <a:rPr lang="en-US" sz="1500" b="1" dirty="0">
                <a:solidFill>
                  <a:srgbClr val="17324D"/>
                </a:solidFill>
              </a:rPr>
              <a:t>Key limitations</a:t>
            </a:r>
            <a:endParaRPr lang="en-US" sz="1500" dirty="0"/>
          </a:p>
        </p:txBody>
      </p:sp>
      <p:sp>
        <p:nvSpPr>
          <p:cNvPr id="10" name="Text 8"/>
          <p:cNvSpPr/>
          <p:nvPr/>
        </p:nvSpPr>
        <p:spPr>
          <a:xfrm>
            <a:off x="914400" y="1847088"/>
            <a:ext cx="4754880" cy="1783080"/>
          </a:xfrm>
          <a:prstGeom prst="rect">
            <a:avLst/>
          </a:prstGeom>
          <a:noFill/>
          <a:ln/>
        </p:spPr>
        <p:txBody>
          <a:bodyPr wrap="square" lIns="25400" tIns="25400" rIns="25400" bIns="25400" rtlCol="0" anchor="t"/>
          <a:lstStyle/>
          <a:p>
            <a:pPr marL="177800" indent="-177800">
              <a:buSzPct val="100000"/>
              <a:buChar char="•"/>
            </a:pPr>
            <a:r>
              <a:rPr lang="en-US" sz="1450" dirty="0">
                <a:solidFill>
                  <a:srgbClr val="1F2937"/>
                </a:solidFill>
                <a:latin typeface="Aptos" pitchFamily="34" charset="0"/>
                <a:ea typeface="Aptos" pitchFamily="34" charset="-122"/>
                <a:cs typeface="Aptos" pitchFamily="34" charset="-120"/>
              </a:rPr>
              <a:t>Sensitive-attribute choices remain simplified and are not fully intersectional.</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Agreement is computed over a limited set of datasets, model families, and threshold choices.</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Public fairness benchmarks are informative, but they are not substitutes for deployment-specific audits.</a:t>
            </a:r>
            <a:endParaRPr lang="en-US" sz="1450" dirty="0"/>
          </a:p>
          <a:p>
            <a:pPr marL="177800" indent="-177800">
              <a:buSzPct val="100000"/>
              <a:buChar char="•"/>
            </a:pPr>
            <a:r>
              <a:rPr lang="en-US" sz="1450" dirty="0">
                <a:solidFill>
                  <a:srgbClr val="1F2937"/>
                </a:solidFill>
                <a:latin typeface="Aptos" pitchFamily="34" charset="0"/>
                <a:ea typeface="Aptos" pitchFamily="34" charset="-122"/>
                <a:cs typeface="Aptos" pitchFamily="34" charset="-120"/>
              </a:rPr>
              <a:t>Language branches such as CrowS-Pairs and BBQ capture only part of the broader social-harm landscape.</a:t>
            </a:r>
            <a:endParaRPr lang="en-US" sz="1450" dirty="0"/>
          </a:p>
        </p:txBody>
      </p:sp>
      <p:sp>
        <p:nvSpPr>
          <p:cNvPr id="11" name="Text 9"/>
          <p:cNvSpPr/>
          <p:nvPr/>
        </p:nvSpPr>
        <p:spPr>
          <a:xfrm>
            <a:off x="914400" y="3886198"/>
            <a:ext cx="1645920" cy="164592"/>
          </a:xfrm>
          <a:prstGeom prst="rect">
            <a:avLst/>
          </a:prstGeom>
          <a:noFill/>
          <a:ln/>
        </p:spPr>
        <p:txBody>
          <a:bodyPr wrap="square" rtlCol="0" anchor="ctr"/>
          <a:lstStyle/>
          <a:p>
            <a:pPr marL="0" indent="0">
              <a:buNone/>
            </a:pPr>
            <a:r>
              <a:rPr lang="en-US" sz="1500" b="1" dirty="0">
                <a:solidFill>
                  <a:srgbClr val="17324D"/>
                </a:solidFill>
              </a:rPr>
              <a:t>High-value next steps</a:t>
            </a:r>
            <a:endParaRPr lang="en-US" sz="1500" dirty="0"/>
          </a:p>
        </p:txBody>
      </p:sp>
      <p:sp>
        <p:nvSpPr>
          <p:cNvPr id="12" name="Text 10"/>
          <p:cNvSpPr/>
          <p:nvPr/>
        </p:nvSpPr>
        <p:spPr>
          <a:xfrm>
            <a:off x="914400" y="4315968"/>
            <a:ext cx="4754880" cy="914400"/>
          </a:xfrm>
          <a:prstGeom prst="rect">
            <a:avLst/>
          </a:prstGeom>
          <a:noFill/>
          <a:ln/>
        </p:spPr>
        <p:txBody>
          <a:bodyPr wrap="square" lIns="25400" tIns="25400" rIns="25400" bIns="25400" rtlCol="0" anchor="t"/>
          <a:lstStyle/>
          <a:p>
            <a:pPr marL="177800" indent="-177800">
              <a:buSzPct val="100000"/>
              <a:buChar char="•"/>
            </a:pPr>
            <a:r>
              <a:rPr lang="en-US" sz="1380" dirty="0">
                <a:solidFill>
                  <a:srgbClr val="1F2937"/>
                </a:solidFill>
                <a:latin typeface="Aptos" pitchFamily="34" charset="0"/>
                <a:ea typeface="Aptos" pitchFamily="34" charset="-122"/>
                <a:cs typeface="Aptos" pitchFamily="34" charset="-120"/>
              </a:rPr>
              <a:t>Add threshold sweeps and richer fairness–utility trade-off visualizations.</a:t>
            </a:r>
            <a:endParaRPr lang="en-US" sz="1380" dirty="0"/>
          </a:p>
          <a:p>
            <a:pPr marL="177800" indent="-177800">
              <a:buSzPct val="100000"/>
              <a:buChar char="•"/>
            </a:pPr>
            <a:r>
              <a:rPr lang="en-US" sz="1380" dirty="0">
                <a:solidFill>
                  <a:srgbClr val="1F2937"/>
                </a:solidFill>
                <a:latin typeface="Aptos" pitchFamily="34" charset="0"/>
                <a:ea typeface="Aptos" pitchFamily="34" charset="-122"/>
                <a:cs typeface="Aptos" pitchFamily="34" charset="-120"/>
              </a:rPr>
              <a:t>Expose more fairness confidence intervals directly in the report and dashboard.</a:t>
            </a:r>
            <a:endParaRPr lang="en-US" sz="1380" dirty="0"/>
          </a:p>
          <a:p>
            <a:pPr marL="177800" indent="-177800">
              <a:buSzPct val="100000"/>
              <a:buChar char="•"/>
            </a:pPr>
            <a:r>
              <a:rPr lang="en-US" sz="1380" dirty="0">
                <a:solidFill>
                  <a:srgbClr val="1F2937"/>
                </a:solidFill>
                <a:latin typeface="Aptos" pitchFamily="34" charset="0"/>
                <a:ea typeface="Aptos" pitchFamily="34" charset="-122"/>
                <a:cs typeface="Aptos" pitchFamily="34" charset="-120"/>
              </a:rPr>
              <a:t>Expand the fairness-judge rubric and compare against newer toolkits such as LangFair and FairBench.</a:t>
            </a:r>
            <a:endParaRPr lang="en-US" sz="1380" dirty="0"/>
          </a:p>
        </p:txBody>
      </p:sp>
      <p:sp>
        <p:nvSpPr>
          <p:cNvPr id="13" name="Shape 11"/>
          <p:cNvSpPr/>
          <p:nvPr/>
        </p:nvSpPr>
        <p:spPr>
          <a:xfrm>
            <a:off x="6355080" y="1325880"/>
            <a:ext cx="5148072" cy="3840480"/>
          </a:xfrm>
          <a:prstGeom prst="roundRect">
            <a:avLst>
              <a:gd name="adj" fmla="val 1429"/>
            </a:avLst>
          </a:prstGeom>
          <a:solidFill>
            <a:srgbClr val="EAF2F8"/>
          </a:solidFill>
          <a:ln w="12700">
            <a:solidFill>
              <a:srgbClr val="D7DEE7"/>
            </a:solidFill>
            <a:prstDash val="solid"/>
          </a:ln>
        </p:spPr>
        <p:txBody>
          <a:bodyPr/>
          <a:lstStyle/>
          <a:p>
            <a:endParaRPr lang="en-US"/>
          </a:p>
        </p:txBody>
      </p:sp>
      <p:sp>
        <p:nvSpPr>
          <p:cNvPr id="14" name="Text 12"/>
          <p:cNvSpPr/>
          <p:nvPr/>
        </p:nvSpPr>
        <p:spPr>
          <a:xfrm>
            <a:off x="6629400" y="1627632"/>
            <a:ext cx="1645920" cy="182880"/>
          </a:xfrm>
          <a:prstGeom prst="rect">
            <a:avLst/>
          </a:prstGeom>
          <a:noFill/>
          <a:ln/>
        </p:spPr>
        <p:txBody>
          <a:bodyPr wrap="square" rtlCol="0" anchor="ctr"/>
          <a:lstStyle/>
          <a:p>
            <a:pPr marL="0" indent="0">
              <a:buNone/>
            </a:pPr>
            <a:r>
              <a:rPr lang="en-US" sz="1800" b="1" dirty="0">
                <a:solidFill>
                  <a:srgbClr val="17324D"/>
                </a:solidFill>
              </a:rPr>
              <a:t>Final takeaways</a:t>
            </a:r>
            <a:endParaRPr lang="en-US" sz="1800" dirty="0"/>
          </a:p>
        </p:txBody>
      </p:sp>
      <p:sp>
        <p:nvSpPr>
          <p:cNvPr id="15" name="Text 13"/>
          <p:cNvSpPr/>
          <p:nvPr/>
        </p:nvSpPr>
        <p:spPr>
          <a:xfrm>
            <a:off x="6583680" y="1965960"/>
            <a:ext cx="4572000" cy="1691640"/>
          </a:xfrm>
          <a:prstGeom prst="rect">
            <a:avLst/>
          </a:prstGeom>
          <a:noFill/>
          <a:ln/>
        </p:spPr>
        <p:txBody>
          <a:bodyPr wrap="square" lIns="25400" tIns="25400" rIns="25400" bIns="25400" rtlCol="0" anchor="t"/>
          <a:lstStyle/>
          <a:p>
            <a:pPr marL="177800" indent="-177800">
              <a:buSzPct val="100000"/>
              <a:buChar char="•"/>
            </a:pPr>
            <a:r>
              <a:rPr lang="en-US" sz="1500" dirty="0">
                <a:solidFill>
                  <a:srgbClr val="1F2937"/>
                </a:solidFill>
                <a:latin typeface="Aptos" pitchFamily="34" charset="0"/>
                <a:ea typeface="Aptos" pitchFamily="34" charset="-122"/>
                <a:cs typeface="Aptos" pitchFamily="34" charset="-120"/>
              </a:rPr>
              <a:t>Report fairness as a structured multi-metric audit, not a single score.</a:t>
            </a:r>
            <a:endParaRPr lang="en-US" sz="1500" dirty="0"/>
          </a:p>
          <a:p>
            <a:pPr marL="177800" indent="-177800">
              <a:buSzPct val="100000"/>
              <a:buChar char="•"/>
            </a:pPr>
            <a:r>
              <a:rPr lang="en-US" sz="1500" dirty="0">
                <a:solidFill>
                  <a:srgbClr val="1F2937"/>
                </a:solidFill>
                <a:latin typeface="Aptos" pitchFamily="34" charset="0"/>
                <a:ea typeface="Aptos" pitchFamily="34" charset="-122"/>
                <a:cs typeface="Aptos" pitchFamily="34" charset="-120"/>
              </a:rPr>
              <a:t>The corrected Adult rerun shows why reproducibility and code inspection matter.</a:t>
            </a:r>
            <a:endParaRPr lang="en-US" sz="1500" dirty="0"/>
          </a:p>
          <a:p>
            <a:pPr marL="177800" indent="-177800">
              <a:buSzPct val="100000"/>
              <a:buChar char="•"/>
            </a:pPr>
            <a:r>
              <a:rPr lang="en-US" sz="1500" dirty="0">
                <a:solidFill>
                  <a:srgbClr val="1F2937"/>
                </a:solidFill>
                <a:latin typeface="Aptos" pitchFamily="34" charset="0"/>
                <a:ea typeface="Aptos" pitchFamily="34" charset="-122"/>
                <a:cs typeface="Aptos" pitchFamily="34" charset="-120"/>
              </a:rPr>
              <a:t>Partial agreement among metrics is exactly why agreement analysis belongs in the workflow.</a:t>
            </a:r>
            <a:endParaRPr lang="en-US" sz="1500" dirty="0"/>
          </a:p>
          <a:p>
            <a:pPr marL="177800" indent="-177800">
              <a:buSzPct val="100000"/>
              <a:buChar char="•"/>
            </a:pPr>
            <a:r>
              <a:rPr lang="en-US" sz="1500" dirty="0">
                <a:solidFill>
                  <a:srgbClr val="1F2937"/>
                </a:solidFill>
                <a:latin typeface="Aptos" pitchFamily="34" charset="0"/>
                <a:ea typeface="Aptos" pitchFamily="34" charset="-122"/>
                <a:cs typeface="Aptos" pitchFamily="34" charset="-120"/>
              </a:rPr>
              <a:t>The final package combines tabular benchmarking, cross-modal branches, saved artifacts, and a dashboard.</a:t>
            </a:r>
            <a:endParaRPr lang="en-US" sz="1500" dirty="0"/>
          </a:p>
        </p:txBody>
      </p:sp>
      <p:sp>
        <p:nvSpPr>
          <p:cNvPr id="16" name="Text 14"/>
          <p:cNvSpPr/>
          <p:nvPr/>
        </p:nvSpPr>
        <p:spPr>
          <a:xfrm>
            <a:off x="6629400" y="4251960"/>
            <a:ext cx="1645920" cy="219456"/>
          </a:xfrm>
          <a:prstGeom prst="rect">
            <a:avLst/>
          </a:prstGeom>
          <a:noFill/>
          <a:ln/>
        </p:spPr>
        <p:txBody>
          <a:bodyPr wrap="square" rtlCol="0" anchor="ctr"/>
          <a:lstStyle/>
          <a:p>
            <a:pPr marL="0" indent="0">
              <a:buNone/>
            </a:pPr>
            <a:r>
              <a:rPr lang="en-US" sz="2200" b="1" dirty="0">
                <a:solidFill>
                  <a:srgbClr val="1F2937"/>
                </a:solidFill>
              </a:rPr>
              <a:t>Thank you</a:t>
            </a:r>
            <a:endParaRPr lang="en-US" sz="2200" dirty="0"/>
          </a:p>
        </p:txBody>
      </p:sp>
      <p:sp>
        <p:nvSpPr>
          <p:cNvPr id="17" name="Text 15"/>
          <p:cNvSpPr/>
          <p:nvPr/>
        </p:nvSpPr>
        <p:spPr>
          <a:xfrm>
            <a:off x="6629399" y="4590287"/>
            <a:ext cx="1845527" cy="338551"/>
          </a:xfrm>
          <a:prstGeom prst="rect">
            <a:avLst/>
          </a:prstGeom>
          <a:noFill/>
          <a:ln/>
        </p:spPr>
        <p:txBody>
          <a:bodyPr wrap="square" rtlCol="0" anchor="ctr"/>
          <a:lstStyle/>
          <a:p>
            <a:pPr marL="0" indent="0">
              <a:buNone/>
            </a:pPr>
            <a:r>
              <a:rPr lang="en-US" sz="2400" b="1" dirty="0">
                <a:solidFill>
                  <a:srgbClr val="C44E52"/>
                </a:solidFill>
              </a:rPr>
              <a:t>Questions?</a:t>
            </a:r>
            <a:endParaRPr lang="en-US" sz="2400" dirty="0"/>
          </a:p>
        </p:txBody>
      </p:sp>
      <p:sp>
        <p:nvSpPr>
          <p:cNvPr id="18" name="Text 16"/>
          <p:cNvSpPr/>
          <p:nvPr/>
        </p:nvSpPr>
        <p:spPr>
          <a:xfrm>
            <a:off x="9326880" y="4343400"/>
            <a:ext cx="1554480" cy="502920"/>
          </a:xfrm>
          <a:prstGeom prst="rect">
            <a:avLst/>
          </a:prstGeom>
          <a:noFill/>
          <a:ln/>
        </p:spPr>
        <p:txBody>
          <a:bodyPr wrap="square" rtlCol="0" anchor="ctr"/>
          <a:lstStyle/>
          <a:p>
            <a:pPr marL="0" indent="0" algn="r">
              <a:buNone/>
            </a:pPr>
            <a:r>
              <a:rPr lang="en-US" sz="1350" dirty="0">
                <a:solidFill>
                  <a:srgbClr val="1F2937"/>
                </a:solidFill>
              </a:rPr>
              <a:t>Abdul-Azeem Opakunle</a:t>
            </a:r>
            <a:endParaRPr lang="en-US" sz="1350" dirty="0"/>
          </a:p>
          <a:p>
            <a:pPr marL="0" indent="0" algn="r">
              <a:buNone/>
            </a:pPr>
            <a:r>
              <a:rPr lang="en-US" sz="1350" dirty="0">
                <a:solidFill>
                  <a:srgbClr val="1F2937"/>
                </a:solidFill>
              </a:rPr>
              <a:t>DTSC 5505</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1342</Words>
  <Application>Microsoft Macintosh PowerPoint</Application>
  <PresentationFormat>Widescreen</PresentationFormat>
  <Paragraphs>201</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FairEval: Do Fairness Benchmarks Agree?</dc:title>
  <dc:subject>FairEval final presentation</dc:subject>
  <dc:creator>OpenAI</dc:creator>
  <cp:lastModifiedBy>Boluwatife Opakunle</cp:lastModifiedBy>
  <cp:revision>2</cp:revision>
  <dcterms:created xsi:type="dcterms:W3CDTF">2026-04-17T03:34:03Z</dcterms:created>
  <dcterms:modified xsi:type="dcterms:W3CDTF">2026-04-19T04:56:37Z</dcterms:modified>
</cp:coreProperties>
</file>