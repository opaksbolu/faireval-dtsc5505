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66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463"/>
    <p:restoredTop sz="94613"/>
  </p:normalViewPr>
  <p:slideViewPr>
    <p:cSldViewPr snapToGrid="0" snapToObjects="1">
      <p:cViewPr varScale="1">
        <p:scale>
          <a:sx n="107" d="100"/>
          <a:sy n="107" d="100"/>
        </p:scale>
        <p:origin x="40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638700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MASTER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23B63"/>
          </a:solidFill>
          <a:ln w="12700">
            <a:solidFill>
              <a:srgbClr val="123B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23B63"/>
          </a:solidFill>
          <a:ln w="12700">
            <a:solidFill>
              <a:srgbClr val="123B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01168" y="64008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FairEval / DTSC 5505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01168" y="6583680"/>
            <a:ext cx="256032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9E6F2"/>
                </a:solidFill>
              </a:rPr>
              <a:t>Abdul-Azeem Opakunle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56248"/>
            <a:ext cx="201168" cy="10972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D9E6F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9487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20040"/>
            <a:ext cx="12191695" cy="6227064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66928" y="987552"/>
            <a:ext cx="11018520" cy="4983480"/>
          </a:xfrm>
          <a:prstGeom prst="roundRect">
            <a:avLst>
              <a:gd name="adj" fmla="val 1468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  <a:effectLst>
            <a:outerShdw blurRad="2540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66928" y="987552"/>
            <a:ext cx="201168" cy="498348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60120" y="1325880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7"/>
                </a:solidFill>
              </a:rPr>
              <a:t>FairEval: Do Fairness Benchmarks Agree?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969264" y="1938528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E7490"/>
                </a:solidFill>
              </a:rPr>
              <a:t>A cross-metric, cross-modal analysis framework for machine learning and LLM bias auditing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60120" y="2788920"/>
            <a:ext cx="4069080" cy="1554480"/>
          </a:xfrm>
          <a:prstGeom prst="roundRect">
            <a:avLst>
              <a:gd name="adj" fmla="val 4706"/>
            </a:avLst>
          </a:prstGeom>
          <a:solidFill>
            <a:srgbClr val="F8FAFC"/>
          </a:solidFill>
          <a:ln w="12700">
            <a:solidFill>
              <a:srgbClr val="D7E0E8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170432" y="306324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Abdul-Azeem Opakunle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DTSC 5505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Final Report &amp; Presentation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Benchmarking / Evaluation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349240" y="2788920"/>
            <a:ext cx="5212080" cy="1783080"/>
          </a:xfrm>
          <a:prstGeom prst="roundRect">
            <a:avLst>
              <a:gd name="adj" fmla="val 4103"/>
            </a:avLst>
          </a:prstGeom>
          <a:solidFill>
            <a:srgbClr val="F8FAFC"/>
          </a:solidFill>
          <a:ln w="12700">
            <a:solidFill>
              <a:srgbClr val="D7E0E8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577840" y="299923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</a:rPr>
              <a:t>Presentation roadmap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577840" y="3310128"/>
            <a:ext cx="438912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</a:rPr>
              <a:t>Problem motivation and research question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</a:rPr>
              <a:t>Workflow, datasets, models, and metrics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</a:rPr>
              <a:t>Corrected benchmark results and agreement analysis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</a:rPr>
              <a:t>Cross-modal outputs, limitations, and next steps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56248"/>
            <a:ext cx="201168" cy="10972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 marL="0" algn="l" defTabSz="914400" rtl="0" eaLnBrk="1" latinLnBrk="0" hangingPunct="1">
              <a:defRPr sz="800" kern="1200">
                <a:solidFill>
                  <a:srgbClr val="D9E6F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F7021451-1387-4CA6-816F-3879F97B5CBC}" type="slidenum">
              <a:rPr lang="en-US" smtClean="0"/>
              <a:pPr algn="l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53035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this problem matters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1225296"/>
            <a:ext cx="11064240" cy="0"/>
          </a:xfrm>
          <a:prstGeom prst="line">
            <a:avLst/>
          </a:prstGeom>
          <a:noFill/>
          <a:ln w="12700">
            <a:solidFill>
              <a:srgbClr val="D7E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66928" y="1508760"/>
            <a:ext cx="5486400" cy="438912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4846320" cy="2651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</a:rPr>
              <a:t>A single fairness number can hide different harm models.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</a:rPr>
              <a:t>High-stakes systems can be accurate on average while distributing errors unevenly across groups.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</a:rPr>
              <a:t>Demographic parity, equalized odds, and predictive parity encode different normative priorities.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</a:rPr>
              <a:t>If the metric choice is hidden, stakeholders may treat a value-sensitive decision as an objective fact.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41248" y="480060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23B63"/>
                </a:solidFill>
              </a:rPr>
              <a:t>Core claim: fairness auditing should be treated as a structured, multi-metric reporting task—not a one-number decision rule.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355080" y="1600200"/>
            <a:ext cx="5257800" cy="4206240"/>
          </a:xfrm>
          <a:prstGeom prst="roundRect">
            <a:avLst>
              <a:gd name="adj" fmla="val 1739"/>
            </a:avLst>
          </a:prstGeom>
          <a:solidFill>
            <a:srgbClr val="F8FAFC"/>
          </a:solidFill>
          <a:ln w="12700">
            <a:solidFill>
              <a:srgbClr val="D7E0E8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675120" y="18288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5C54"/>
                </a:solidFill>
              </a:rPr>
              <a:t>From one number …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281160" y="18288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B9A68"/>
                </a:solidFill>
              </a:rPr>
              <a:t>… to a structured audit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758756" y="3132377"/>
            <a:ext cx="1188720" cy="1188720"/>
          </a:xfrm>
          <a:prstGeom prst="ellipse">
            <a:avLst/>
          </a:prstGeom>
          <a:solidFill>
            <a:srgbClr val="FDE8E7"/>
          </a:solidFill>
          <a:ln w="12700">
            <a:solidFill>
              <a:srgbClr val="C95C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882200" y="3516425"/>
            <a:ext cx="9418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5C54"/>
                </a:solidFill>
              </a:rPr>
              <a:t>“Fair”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8182317" y="3539285"/>
            <a:ext cx="594360" cy="320040"/>
          </a:xfrm>
          <a:prstGeom prst="chevron">
            <a:avLst/>
          </a:prstGeom>
          <a:solidFill>
            <a:srgbClr val="D7E0E8"/>
          </a:solidFill>
          <a:ln w="12700">
            <a:solidFill>
              <a:srgbClr val="D7E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9011518" y="2662016"/>
            <a:ext cx="1092602" cy="905257"/>
          </a:xfrm>
          <a:prstGeom prst="roundRect">
            <a:avLst>
              <a:gd name="adj" fmla="val 8889"/>
            </a:avLst>
          </a:prstGeom>
          <a:solidFill>
            <a:srgbClr val="D9EEF2"/>
          </a:solidFill>
          <a:ln w="12700">
            <a:solidFill>
              <a:srgbClr val="D7E0E8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161397" y="2927193"/>
            <a:ext cx="8138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</a:rPr>
              <a:t>Multiple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</a:rPr>
              <a:t>metrics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0224322" y="2662016"/>
            <a:ext cx="1092602" cy="905257"/>
          </a:xfrm>
          <a:prstGeom prst="roundRect">
            <a:avLst>
              <a:gd name="adj" fmla="val 8889"/>
            </a:avLst>
          </a:prstGeom>
          <a:solidFill>
            <a:srgbClr val="DFF1E1"/>
          </a:solidFill>
          <a:ln w="12700">
            <a:solidFill>
              <a:srgbClr val="D7E0E8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279305" y="2927193"/>
            <a:ext cx="10241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</a:rPr>
              <a:t>Uncertainty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011518" y="3713576"/>
            <a:ext cx="1092602" cy="905257"/>
          </a:xfrm>
          <a:prstGeom prst="roundRect">
            <a:avLst>
              <a:gd name="adj" fmla="val 8889"/>
            </a:avLst>
          </a:prstGeom>
          <a:solidFill>
            <a:srgbClr val="FBE7C5"/>
          </a:solidFill>
          <a:ln w="12700">
            <a:solidFill>
              <a:srgbClr val="D7E0E8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114888" y="3976521"/>
            <a:ext cx="960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</a:rPr>
              <a:t>Agreement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0213171" y="3713576"/>
            <a:ext cx="1092602" cy="905257"/>
          </a:xfrm>
          <a:prstGeom prst="roundRect">
            <a:avLst>
              <a:gd name="adj" fmla="val 8889"/>
            </a:avLst>
          </a:prstGeom>
          <a:solidFill>
            <a:srgbClr val="FCE2DF"/>
          </a:solidFill>
          <a:ln w="12700">
            <a:solidFill>
              <a:srgbClr val="D7E0E8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0102143" y="3976521"/>
            <a:ext cx="13380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</a:rPr>
              <a:t>Documentation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56248"/>
            <a:ext cx="201168" cy="10972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 marL="0" algn="l" defTabSz="914400" rtl="0" eaLnBrk="1" latinLnBrk="0" hangingPunct="1">
              <a:defRPr sz="800" kern="1200">
                <a:solidFill>
                  <a:srgbClr val="D9E6F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F7021451-1387-4CA6-816F-3879F97B5CBC}" type="slidenum">
              <a:rPr lang="en-US" smtClean="0"/>
              <a:pPr algn="l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56032" y="100584"/>
            <a:ext cx="30175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FairEval / DTSC 5505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question and contributions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02920" y="987552"/>
            <a:ext cx="11064240" cy="0"/>
          </a:xfrm>
          <a:prstGeom prst="line">
            <a:avLst/>
          </a:prstGeom>
          <a:noFill/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631168" y="6473952"/>
            <a:ext cx="2286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E6B7A"/>
                </a:solidFill>
              </a:rPr>
              <a:t>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6419088"/>
            <a:ext cx="20116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8796"/>
                </a:solidFill>
              </a:rPr>
              <a:t>Abdul-Azeem Opakunle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58368" y="123444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24D"/>
                </a:solidFill>
              </a:rPr>
              <a:t>Research question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58368" y="1536191"/>
            <a:ext cx="3969388" cy="1527031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96112" y="2039130"/>
            <a:ext cx="33832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2937"/>
                </a:solidFill>
              </a:rPr>
              <a:t>Do fairness benchmarks agree, or do different metrics produce different judgments about which models are fairer?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983480" y="123444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24D"/>
                </a:solidFill>
              </a:rPr>
              <a:t>What FairEval contributes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983480" y="1490472"/>
            <a:ext cx="6126480" cy="2011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Seven classical tabular models across Adult, COMPAS, and German Credit</a:t>
            </a:r>
            <a:endParaRPr lang="en-US" sz="1550" dirty="0"/>
          </a:p>
          <a:p>
            <a:pPr marL="177800" indent="-177800"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Three fairness metrics plus bootstrap confidence intervals</a:t>
            </a:r>
            <a:endParaRPr lang="en-US" sz="1550" dirty="0"/>
          </a:p>
          <a:p>
            <a:pPr marL="177800" indent="-177800"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Formal agreement analysis with Kendall’s tau and Krippendorff’s alpha</a:t>
            </a:r>
            <a:endParaRPr lang="en-US" sz="1550" dirty="0"/>
          </a:p>
          <a:p>
            <a:pPr marL="177800" indent="-177800"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Cross-modal branches for CrowS-Pairs, BBQ, and a fairness-judge workflow</a:t>
            </a:r>
            <a:endParaRPr lang="en-US" sz="1550" dirty="0"/>
          </a:p>
          <a:p>
            <a:pPr marL="177800" indent="-177800"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Reproducible artifacts, figures, dashboard outputs, and a code package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685800" y="4251960"/>
            <a:ext cx="1993392" cy="1216152"/>
          </a:xfrm>
          <a:prstGeom prst="roundRect">
            <a:avLst>
              <a:gd name="adj" fmla="val 6015"/>
            </a:avLst>
          </a:prstGeom>
          <a:solidFill>
            <a:srgbClr val="2F6B9A"/>
          </a:solidFill>
          <a:ln w="12700">
            <a:solidFill>
              <a:srgbClr val="2F6B9A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13816" y="4398264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77240" y="4727448"/>
            <a:ext cx="18105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Tabular datasets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58952" y="5010912"/>
            <a:ext cx="18470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EF4F8"/>
                </a:solidFill>
              </a:rPr>
              <a:t>Adult · COMPAS · German Credit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907792" y="4251960"/>
            <a:ext cx="1993392" cy="1216152"/>
          </a:xfrm>
          <a:prstGeom prst="roundRect">
            <a:avLst>
              <a:gd name="adj" fmla="val 6015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035808" y="4398264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7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2999232" y="4727448"/>
            <a:ext cx="18105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Classical models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980944" y="5010912"/>
            <a:ext cx="18470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EF4F8"/>
                </a:solidFill>
              </a:rPr>
              <a:t>LR · RF · DT · SVM · KNN · GB · GNB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129784" y="4251960"/>
            <a:ext cx="1993392" cy="1216152"/>
          </a:xfrm>
          <a:prstGeom prst="roundRect">
            <a:avLst>
              <a:gd name="adj" fmla="val 6015"/>
            </a:avLst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257800" y="4398264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221224" y="4727448"/>
            <a:ext cx="18105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Core fairness metrics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202936" y="5010912"/>
            <a:ext cx="18470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EF4F8"/>
                </a:solidFill>
              </a:rPr>
              <a:t>DP · EO · PP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7351776" y="4251960"/>
            <a:ext cx="1993392" cy="1216152"/>
          </a:xfrm>
          <a:prstGeom prst="roundRect">
            <a:avLst>
              <a:gd name="adj" fmla="val 6015"/>
            </a:avLst>
          </a:prstGeom>
          <a:solidFill>
            <a:srgbClr val="E38B2C"/>
          </a:solidFill>
          <a:ln w="12700">
            <a:solidFill>
              <a:srgbClr val="E38B2C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479792" y="4398264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7443216" y="4727448"/>
            <a:ext cx="18105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Agreement statistics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424928" y="5010912"/>
            <a:ext cx="18470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EF4F8"/>
                </a:solidFill>
              </a:rPr>
              <a:t>Kendall’s τ · Krippendorff’s α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9573768" y="4251960"/>
            <a:ext cx="1993392" cy="1216152"/>
          </a:xfrm>
          <a:prstGeom prst="roundRect">
            <a:avLst>
              <a:gd name="adj" fmla="val 6015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9701784" y="4398264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9665208" y="4727448"/>
            <a:ext cx="18105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Cross-modal branches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9646920" y="5010912"/>
            <a:ext cx="18470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EF4F8"/>
                </a:solidFill>
              </a:rPr>
              <a:t>CrowS-Pairs · BBQ · fairness judge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56032" y="100584"/>
            <a:ext cx="30175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FairEval / DTSC 5505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FairEval works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02920" y="987552"/>
            <a:ext cx="11064240" cy="0"/>
          </a:xfrm>
          <a:prstGeom prst="line">
            <a:avLst/>
          </a:prstGeom>
          <a:noFill/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631168" y="6473952"/>
            <a:ext cx="2286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E6B7A"/>
                </a:solidFill>
              </a:rPr>
              <a:t>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6419088"/>
            <a:ext cx="20116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8796"/>
                </a:solidFill>
              </a:rPr>
              <a:t>Abdul-Azeem Opakunle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22960" y="1463040"/>
            <a:ext cx="1691640" cy="749808"/>
          </a:xfrm>
          <a:prstGeom prst="roundRect">
            <a:avLst>
              <a:gd name="adj" fmla="val 7317"/>
            </a:avLst>
          </a:prstGeom>
          <a:solidFill>
            <a:srgbClr val="EAF2F8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96112" y="1700784"/>
            <a:ext cx="15453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2937"/>
                </a:solidFill>
              </a:rPr>
              <a:t>Datasets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2615184" y="1664208"/>
            <a:ext cx="347472" cy="292608"/>
          </a:xfrm>
          <a:prstGeom prst="chevron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063240" y="1463040"/>
            <a:ext cx="1691640" cy="749808"/>
          </a:xfrm>
          <a:prstGeom prst="roundRect">
            <a:avLst>
              <a:gd name="adj" fmla="val 7317"/>
            </a:avLst>
          </a:prstGeom>
          <a:solidFill>
            <a:srgbClr val="EAF6EE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029712" y="1700784"/>
            <a:ext cx="1652016" cy="25602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2937"/>
                </a:solidFill>
              </a:rPr>
              <a:t>Preprocessing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4855464" y="1664208"/>
            <a:ext cx="347472" cy="292608"/>
          </a:xfrm>
          <a:prstGeom prst="chevron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303520" y="1463040"/>
            <a:ext cx="1691640" cy="749808"/>
          </a:xfrm>
          <a:prstGeom prst="roundRect">
            <a:avLst>
              <a:gd name="adj" fmla="val 7317"/>
            </a:avLst>
          </a:prstGeom>
          <a:solidFill>
            <a:srgbClr val="FBF3E3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376672" y="1700784"/>
            <a:ext cx="15453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2937"/>
                </a:solidFill>
              </a:rPr>
              <a:t>Models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7095744" y="1664208"/>
            <a:ext cx="347472" cy="292608"/>
          </a:xfrm>
          <a:prstGeom prst="chevron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543800" y="1463040"/>
            <a:ext cx="1691640" cy="749808"/>
          </a:xfrm>
          <a:prstGeom prst="roundRect">
            <a:avLst>
              <a:gd name="adj" fmla="val 7317"/>
            </a:avLst>
          </a:prstGeom>
          <a:solidFill>
            <a:srgbClr val="F3EAFE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616952" y="1700784"/>
            <a:ext cx="15453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2937"/>
                </a:solidFill>
              </a:rPr>
              <a:t>Metrics &amp;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1F2937"/>
                </a:solidFill>
              </a:rPr>
              <a:t>Agreement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9336024" y="1664208"/>
            <a:ext cx="347472" cy="292608"/>
          </a:xfrm>
          <a:prstGeom prst="chevron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9784080" y="1463040"/>
            <a:ext cx="1691640" cy="749808"/>
          </a:xfrm>
          <a:prstGeom prst="roundRect">
            <a:avLst>
              <a:gd name="adj" fmla="val 7317"/>
            </a:avLst>
          </a:prstGeom>
          <a:solidFill>
            <a:srgbClr val="EAF2F8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857232" y="1700784"/>
            <a:ext cx="15453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2937"/>
                </a:solidFill>
              </a:rPr>
              <a:t>Artifacts /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1F2937"/>
                </a:solidFill>
              </a:rPr>
              <a:t>Dashboard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22960" y="2743200"/>
            <a:ext cx="6217920" cy="2331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 dataset schemas and sensitive-attribute fields at ingestion time.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Preprocess features while preserving the sensitive attribute for downstream auditing.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 multiple model families under a consistent benchmark protocol.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Compute accuracy, fairness metrics, and inter-metric agreement statistics.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Write results, figures, and dashboard artifacts from the same output directory.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498080" y="2788920"/>
            <a:ext cx="3886200" cy="224028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754112" y="2999232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24D"/>
                </a:solidFill>
              </a:rPr>
              <a:t>Design goals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635240" y="3291840"/>
            <a:ext cx="3474720" cy="1143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Traceable results rather than one-off experiments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workflow in which every major claim maps to a saved artifact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Consistent reporting across the report, dashboard, README, and code package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4123944" y="5394960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24D"/>
                </a:solidFill>
              </a:rPr>
              <a:t>Why this structure matters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123944" y="5756148"/>
            <a:ext cx="349300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</a:rPr>
              <a:t>The same output directory feeds the report, plots, and dashboard. That makes the project easier to verify and much easier to defend in the code walkthrough.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56032" y="100584"/>
            <a:ext cx="30175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FairEval / DTSC 5505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Data, models, and metrics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02920" y="987552"/>
            <a:ext cx="11064240" cy="0"/>
          </a:xfrm>
          <a:prstGeom prst="line">
            <a:avLst/>
          </a:prstGeom>
          <a:noFill/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631168" y="6473952"/>
            <a:ext cx="2286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E6B7A"/>
                </a:solidFill>
              </a:rPr>
              <a:t>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6419088"/>
            <a:ext cx="20116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8796"/>
                </a:solidFill>
              </a:rPr>
              <a:t>Abdul-Azeem Opakunle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58368" y="1280160"/>
            <a:ext cx="2971800" cy="411480"/>
          </a:xfrm>
          <a:prstGeom prst="roundRect">
            <a:avLst>
              <a:gd name="adj" fmla="val 13333"/>
            </a:avLst>
          </a:prstGeom>
          <a:solidFill>
            <a:srgbClr val="EAF2F8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04672" y="1408176"/>
            <a:ext cx="26517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Datasets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99432" y="1280160"/>
            <a:ext cx="2971800" cy="411480"/>
          </a:xfrm>
          <a:prstGeom prst="roundRect">
            <a:avLst>
              <a:gd name="adj" fmla="val 13333"/>
            </a:avLst>
          </a:prstGeom>
          <a:solidFill>
            <a:srgbClr val="EAF6EE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45736" y="1408176"/>
            <a:ext cx="26517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Model families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540496" y="1280160"/>
            <a:ext cx="2971800" cy="411480"/>
          </a:xfrm>
          <a:prstGeom prst="roundRect">
            <a:avLst>
              <a:gd name="adj" fmla="val 13333"/>
            </a:avLst>
          </a:prstGeom>
          <a:solidFill>
            <a:srgbClr val="FBF3E3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686800" y="1408176"/>
            <a:ext cx="26517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Fairness + agreement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58368" y="1874520"/>
            <a:ext cx="3474720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41248" y="1984248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</a:rPr>
              <a:t>Adult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41248" y="2221992"/>
            <a:ext cx="16002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E6B7A"/>
                </a:solidFill>
              </a:rPr>
              <a:t>Income classification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697480" y="2093976"/>
            <a:ext cx="1097280" cy="329184"/>
          </a:xfrm>
          <a:prstGeom prst="roundRect">
            <a:avLst>
              <a:gd name="adj" fmla="val 33333"/>
            </a:avLst>
          </a:prstGeom>
          <a:solidFill>
            <a:srgbClr val="EAF2F8"/>
          </a:solidFill>
          <a:ln w="12700">
            <a:solidFill>
              <a:srgbClr val="EAF2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770632" y="2167128"/>
            <a:ext cx="95097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F6B9A"/>
                </a:solidFill>
              </a:rPr>
              <a:t>sex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58368" y="2880360"/>
            <a:ext cx="3474720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41248" y="2990088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</a:rPr>
              <a:t>COMPAS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41248" y="3227832"/>
            <a:ext cx="16002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E6B7A"/>
                </a:solidFill>
              </a:rPr>
              <a:t>Two-year recidivism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697480" y="3099816"/>
            <a:ext cx="1097280" cy="329184"/>
          </a:xfrm>
          <a:prstGeom prst="roundRect">
            <a:avLst>
              <a:gd name="adj" fmla="val 33333"/>
            </a:avLst>
          </a:prstGeom>
          <a:solidFill>
            <a:srgbClr val="EAF2F8"/>
          </a:solidFill>
          <a:ln w="12700">
            <a:solidFill>
              <a:srgbClr val="EAF2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770632" y="3172968"/>
            <a:ext cx="95097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F6B9A"/>
                </a:solidFill>
              </a:rPr>
              <a:t>race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76656" y="3809480"/>
            <a:ext cx="3474720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41248" y="3995928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</a:rPr>
              <a:t>German Credit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41248" y="4233672"/>
            <a:ext cx="16002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E6B7A"/>
                </a:solidFill>
              </a:rPr>
              <a:t>Credit risk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697480" y="4105656"/>
            <a:ext cx="1097280" cy="329184"/>
          </a:xfrm>
          <a:prstGeom prst="roundRect">
            <a:avLst>
              <a:gd name="adj" fmla="val 33333"/>
            </a:avLst>
          </a:prstGeom>
          <a:solidFill>
            <a:srgbClr val="EAF2F8"/>
          </a:solidFill>
          <a:ln w="12700">
            <a:solidFill>
              <a:srgbClr val="EAF2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770632" y="4178807"/>
            <a:ext cx="1024128" cy="1975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F6B9A"/>
                </a:solidFill>
              </a:rPr>
              <a:t>personal status / sex proxy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76656" y="5120640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324D"/>
                </a:solidFill>
              </a:rPr>
              <a:t>Why this setup is useful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85800" y="5349240"/>
            <a:ext cx="365760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Three domains: income, criminal justice, and credit risk</a:t>
            </a: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Seven classical models spanning linear, tree-based, distance-based, margin-based, and probabilistic families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4681728" y="1901952"/>
            <a:ext cx="3474720" cy="2011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Logistic regression as an interpretable linear baseline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Random forest and decision tree for nonlinear tabular rules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SVM, KNN, gradient boosting, and Gaussian naive Bayes for broader model diversity</a:t>
            </a:r>
            <a:endParaRPr lang="en-US" sz="1450" dirty="0"/>
          </a:p>
        </p:txBody>
      </p:sp>
      <p:sp>
        <p:nvSpPr>
          <p:cNvPr id="32" name="Shape 30"/>
          <p:cNvSpPr/>
          <p:nvPr/>
        </p:nvSpPr>
        <p:spPr>
          <a:xfrm>
            <a:off x="8641080" y="1874520"/>
            <a:ext cx="914400" cy="804672"/>
          </a:xfrm>
          <a:prstGeom prst="roundRect">
            <a:avLst>
              <a:gd name="adj" fmla="val 9091"/>
            </a:avLst>
          </a:prstGeom>
          <a:solidFill>
            <a:srgbClr val="2F6B9A"/>
          </a:solidFill>
          <a:ln w="12700">
            <a:solidFill>
              <a:srgbClr val="2F6B9A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8769096" y="2020824"/>
            <a:ext cx="658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DP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8732520" y="2350008"/>
            <a:ext cx="850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Outcome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parity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714232" y="2633472"/>
            <a:ext cx="7680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9674352" y="1874520"/>
            <a:ext cx="914400" cy="804672"/>
          </a:xfrm>
          <a:prstGeom prst="roundRect">
            <a:avLst>
              <a:gd name="adj" fmla="val 9091"/>
            </a:avLst>
          </a:prstGeom>
          <a:solidFill>
            <a:srgbClr val="E38B2C"/>
          </a:solidFill>
          <a:ln w="12700">
            <a:solidFill>
              <a:srgbClr val="E38B2C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9802368" y="2020824"/>
            <a:ext cx="658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EO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9765792" y="235000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Error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parity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9747504" y="2633472"/>
            <a:ext cx="7680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10707624" y="1874520"/>
            <a:ext cx="914400" cy="804672"/>
          </a:xfrm>
          <a:prstGeom prst="roundRect">
            <a:avLst>
              <a:gd name="adj" fmla="val 9091"/>
            </a:avLst>
          </a:prstGeom>
          <a:solidFill>
            <a:srgbClr val="C44E52"/>
          </a:solidFill>
          <a:ln w="12700">
            <a:solidFill>
              <a:srgbClr val="C44E52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10835640" y="2020824"/>
            <a:ext cx="658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PP</a:t>
            </a:r>
            <a:endParaRPr lang="en-US" sz="2000" dirty="0"/>
          </a:p>
        </p:txBody>
      </p:sp>
      <p:sp>
        <p:nvSpPr>
          <p:cNvPr id="42" name="Text 40"/>
          <p:cNvSpPr/>
          <p:nvPr/>
        </p:nvSpPr>
        <p:spPr>
          <a:xfrm>
            <a:off x="10799064" y="235000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Meaning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parity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10780776" y="2633472"/>
            <a:ext cx="7680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8641080" y="2971800"/>
            <a:ext cx="1554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324D"/>
                </a:solidFill>
              </a:rPr>
              <a:t>Agreement layer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8613648" y="3218688"/>
            <a:ext cx="292608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Kendall’s τ captures rank agreement among metrics.</a:t>
            </a: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Krippendorff’s α summarizes whether metrics behave like near-redundant raters.</a:t>
            </a:r>
            <a:endParaRPr lang="en-US" sz="1350" dirty="0"/>
          </a:p>
        </p:txBody>
      </p:sp>
      <p:sp>
        <p:nvSpPr>
          <p:cNvPr id="46" name="Text 44"/>
          <p:cNvSpPr/>
          <p:nvPr/>
        </p:nvSpPr>
        <p:spPr>
          <a:xfrm>
            <a:off x="8613648" y="4526280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50" b="1" i="1" dirty="0">
                <a:solidFill>
                  <a:srgbClr val="1F2937"/>
                </a:solidFill>
              </a:rPr>
              <a:t>The goal is not just to report fairness scores—it is to report how stable the fairness story is.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56032" y="100584"/>
            <a:ext cx="30175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FairEval / DTSC 5505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critical revision: correcting the Adult fairness bug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02920" y="987552"/>
            <a:ext cx="11064240" cy="0"/>
          </a:xfrm>
          <a:prstGeom prst="line">
            <a:avLst/>
          </a:prstGeom>
          <a:noFill/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631168" y="6473952"/>
            <a:ext cx="2286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E6B7A"/>
                </a:solidFill>
              </a:rPr>
              <a:t>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6419088"/>
            <a:ext cx="20116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8796"/>
                </a:solidFill>
              </a:rPr>
              <a:t>Abdul-Azeem Opakunle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85800" y="1325880"/>
            <a:ext cx="3730752" cy="4306824"/>
          </a:xfrm>
          <a:prstGeom prst="roundRect">
            <a:avLst>
              <a:gd name="adj" fmla="val 1690"/>
            </a:avLst>
          </a:prstGeom>
          <a:solidFill>
            <a:srgbClr val="FCEBEC"/>
          </a:solidFill>
          <a:ln w="12700">
            <a:solidFill>
              <a:srgbClr val="E6C7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14400" y="1572768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44E52"/>
                </a:solidFill>
              </a:rPr>
              <a:t>What went wrong in the earlier milestone?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1874520"/>
            <a:ext cx="3246120" cy="1417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local Adult CSV stored the sensitive field as “sex:” rather than “sex.”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old preprocessing path missed that field and collapsed records into a fallback group.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Adult fairness metrics were therefore forced to zero across every model.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914400" y="3792977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CAF50"/>
                </a:solidFill>
              </a:rPr>
              <a:t>Why the fix matters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91540" y="4137660"/>
            <a:ext cx="324612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corrected rerun restores non-zero Adult disparities for all seven models.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makes the benchmark more credible because reproducibility checks are part of the audit itself.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4800600" y="1325880"/>
            <a:ext cx="2057400" cy="3246120"/>
          </a:xfrm>
          <a:prstGeom prst="roundRect">
            <a:avLst>
              <a:gd name="adj" fmla="val 2667"/>
            </a:avLst>
          </a:prstGeom>
          <a:solidFill>
            <a:srgbClr val="FFF7F7"/>
          </a:solidFill>
          <a:ln w="12700">
            <a:solidFill>
              <a:srgbClr val="E6C7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212080" y="1691640"/>
            <a:ext cx="1234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44E52"/>
                </a:solidFill>
              </a:rPr>
              <a:t>Before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973444" y="2148840"/>
            <a:ext cx="150050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44E52"/>
                </a:solidFill>
              </a:rPr>
              <a:t>Adult disparities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C44E52"/>
                </a:solidFill>
              </a:rPr>
              <a:t>= 0.000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C44E52"/>
                </a:solidFill>
              </a:rPr>
              <a:t>for every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C44E52"/>
                </a:solidFill>
              </a:rPr>
              <a:t>model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7086600" y="2953512"/>
            <a:ext cx="731520" cy="0"/>
          </a:xfrm>
          <a:prstGeom prst="line">
            <a:avLst/>
          </a:prstGeom>
          <a:noFill/>
          <a:ln w="12700">
            <a:solidFill>
              <a:srgbClr val="17324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909560" y="1325880"/>
            <a:ext cx="3611880" cy="3246120"/>
          </a:xfrm>
          <a:prstGeom prst="roundRect">
            <a:avLst>
              <a:gd name="adj" fmla="val 1690"/>
            </a:avLst>
          </a:prstGeom>
          <a:solidFill>
            <a:srgbClr val="F4FBF5"/>
          </a:solidFill>
          <a:ln w="12700">
            <a:solidFill>
              <a:srgbClr val="CFE5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144000" y="169164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CAF50"/>
                </a:solidFill>
              </a:rPr>
              <a:t>After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366760" y="2103120"/>
            <a:ext cx="2697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CAF50"/>
                </a:solidFill>
              </a:rPr>
              <a:t>Adult now shows non-zero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4CAF50"/>
                </a:solidFill>
              </a:rPr>
              <a:t>DP, EO, and PP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4CAF50"/>
                </a:solidFill>
              </a:rPr>
              <a:t>across all seven models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183880" y="384048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1F2937"/>
                </a:solidFill>
              </a:rPr>
              <a:t>Bottom line: debugging the data pipeline changed the scientific interpretation.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56032" y="100584"/>
            <a:ext cx="30175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FairEval / DTSC 5505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Corrected benchmark results: performance and disparities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02920" y="987552"/>
            <a:ext cx="11064240" cy="0"/>
          </a:xfrm>
          <a:prstGeom prst="line">
            <a:avLst/>
          </a:prstGeom>
          <a:noFill/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631168" y="6473952"/>
            <a:ext cx="2286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E6B7A"/>
                </a:solidFill>
              </a:rPr>
              <a:t>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6419088"/>
            <a:ext cx="20116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8796"/>
                </a:solidFill>
              </a:rPr>
              <a:t>Abdul-Azeem Opakunle</a:t>
            </a:r>
            <a:endParaRPr lang="en-US" sz="800" dirty="0"/>
          </a:p>
        </p:txBody>
      </p:sp>
      <p:pic>
        <p:nvPicPr>
          <p:cNvPr id="8" name="Image 0" descr="/mnt/data/user-CvHvVg12W6MgAwIHEKbapUT1/460b675e55bd46f2931414ed506d4770/mnt/data/report_extract/word/media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579418"/>
            <a:ext cx="5349240" cy="2647604"/>
          </a:xfrm>
          <a:prstGeom prst="rect">
            <a:avLst/>
          </a:prstGeom>
        </p:spPr>
      </p:pic>
      <p:pic>
        <p:nvPicPr>
          <p:cNvPr id="9" name="Image 1" descr="/mnt/data/user-CvHvVg12W6MgAwIHEKbapUT1/460b675e55bd46f2931414ed506d4770/mnt/data/report_extract/word/media/image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9632" y="1579418"/>
            <a:ext cx="5349240" cy="2647604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841248" y="4828032"/>
            <a:ext cx="1097280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1051560" y="5102352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937"/>
                </a:solidFill>
              </a:rPr>
              <a:t>Takeaway: predictive performance varies across datasets, and fairness disparities remain non-zero after the Adult correction. The “best” model depends on whether you prioritize utility, selection-rate parity, or error parity.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56032" y="100584"/>
            <a:ext cx="30175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FairEval / DTSC 5505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the corrected results mean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02920" y="987552"/>
            <a:ext cx="11064240" cy="0"/>
          </a:xfrm>
          <a:prstGeom prst="line">
            <a:avLst/>
          </a:prstGeom>
          <a:noFill/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631168" y="6473952"/>
            <a:ext cx="2286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E6B7A"/>
                </a:solidFill>
              </a:rPr>
              <a:t>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6419088"/>
            <a:ext cx="20116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8796"/>
                </a:solidFill>
              </a:rPr>
              <a:t>Abdul-Azeem Opakunle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85800" y="1325880"/>
            <a:ext cx="5486400" cy="4526280"/>
          </a:xfrm>
          <a:prstGeom prst="roundRect">
            <a:avLst>
              <a:gd name="adj" fmla="val 1212"/>
            </a:avLst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14400" y="1572768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24D"/>
                </a:solidFill>
              </a:rPr>
              <a:t>Dataset-level findings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1920240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F6B9A"/>
                </a:solidFill>
              </a:rPr>
              <a:t>Adult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914400" y="2139696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No model is disparity-free after the correction. Gradient boosting is strongest on accuracy, but not every metric tells the same story.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2816352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38B2C"/>
                </a:solidFill>
              </a:rPr>
              <a:t>COMPAS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914400" y="3035808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Several models are highly accurate, yet the fairness picture is still nontrivial. Strong predictive performance does not settle the fairness ranking.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" y="3703320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4CAF50"/>
                </a:solidFill>
              </a:rPr>
              <a:t>German Credit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914400" y="3922776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The benchmark is smaller and noisier, which makes the intervals and comparisons more important. A zero value on one metric does not imply broad fairness.</a:t>
            </a:r>
            <a:endParaRPr lang="en-US" sz="1400" dirty="0"/>
          </a:p>
        </p:txBody>
      </p:sp>
      <p:pic>
        <p:nvPicPr>
          <p:cNvPr id="16" name="Image 0" descr="/mnt/data/user-CvHvVg12W6MgAwIHEKbapUT1/460b675e55bd46f2931414ed506d4770/mnt/data/report_extract/word/media/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468858"/>
            <a:ext cx="5074920" cy="4057444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6583680" y="5669280"/>
            <a:ext cx="4754880" cy="658368"/>
          </a:xfrm>
          <a:prstGeom prst="roundRect">
            <a:avLst>
              <a:gd name="adj" fmla="val 6944"/>
            </a:avLst>
          </a:prstGeom>
          <a:solidFill>
            <a:srgbClr val="EAF2F8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784848" y="5888736"/>
            <a:ext cx="43708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F2937"/>
                </a:solidFill>
              </a:rPr>
              <a:t>Agreement is partial, not complete. Equalized odds and accuracy are moderately negatively associated (τ ≈ -0.58).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56032" y="100584"/>
            <a:ext cx="30175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FairEval / DTSC 5505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Cross-modal outputs and reproducibility evidence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02920" y="987552"/>
            <a:ext cx="11064240" cy="0"/>
          </a:xfrm>
          <a:prstGeom prst="line">
            <a:avLst/>
          </a:prstGeom>
          <a:noFill/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631168" y="6473952"/>
            <a:ext cx="2286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E6B7A"/>
                </a:solidFill>
              </a:rPr>
              <a:t>9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6419088"/>
            <a:ext cx="20116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8796"/>
                </a:solidFill>
              </a:rPr>
              <a:t>Abdul-Azeem Opakunle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41248" y="1463040"/>
            <a:ext cx="1874520" cy="1170432"/>
          </a:xfrm>
          <a:prstGeom prst="roundRect">
            <a:avLst>
              <a:gd name="adj" fmla="val 6250"/>
            </a:avLst>
          </a:prstGeom>
          <a:solidFill>
            <a:srgbClr val="2F6B9A"/>
          </a:solidFill>
          <a:ln w="12700">
            <a:solidFill>
              <a:srgbClr val="2F6B9A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69264" y="1609344"/>
            <a:ext cx="16184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0.940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32688" y="1938528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CrowS-Pairs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914400" y="2221992"/>
            <a:ext cx="172821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EF4F8"/>
                </a:solidFill>
              </a:rPr>
              <a:t>Saved output accuracy over 50 evaluated sentence-pair judgments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907792" y="1463040"/>
            <a:ext cx="1874520" cy="1170432"/>
          </a:xfrm>
          <a:prstGeom prst="roundRect">
            <a:avLst>
              <a:gd name="adj" fmla="val 6250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035808" y="1609344"/>
            <a:ext cx="16184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0.805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999232" y="1938528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BBQ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980944" y="2221992"/>
            <a:ext cx="172821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EF4F8"/>
                </a:solidFill>
              </a:rPr>
              <a:t>Saved output accuracy over 200 benchmark items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974336" y="1463040"/>
            <a:ext cx="1874520" cy="1170432"/>
          </a:xfrm>
          <a:prstGeom prst="roundRect">
            <a:avLst>
              <a:gd name="adj" fmla="val 6250"/>
            </a:avLst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102352" y="1609344"/>
            <a:ext cx="16184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1.000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065776" y="1938528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Fairness judge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047488" y="2221992"/>
            <a:ext cx="172821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EF4F8"/>
                </a:solidFill>
              </a:rPr>
              <a:t>Benchmark–judge agreement in the saved summary artifact</a:t>
            </a:r>
            <a:endParaRPr lang="en-US" sz="850" dirty="0"/>
          </a:p>
        </p:txBody>
      </p:sp>
      <p:pic>
        <p:nvPicPr>
          <p:cNvPr id="20" name="Image 0" descr="/mnt/data/user-CvHvVg12W6MgAwIHEKbapUT1/460b675e55bd46f2931414ed506d4770/mnt/data/report_extract/word/media/image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3047614"/>
            <a:ext cx="5440680" cy="1997212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7040880" y="1465270"/>
            <a:ext cx="4709160" cy="370332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7269480" y="1739590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24D"/>
                </a:solidFill>
              </a:rPr>
              <a:t>Why this matters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7269480" y="2127095"/>
            <a:ext cx="4297680" cy="1417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package does more than produce tabular results once; it preserves outputs, a dashboard path, and audit-ready artifacts.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Named files make the roadmap claims easy to check.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report, dashboard, README, code package, and walkthrough all point to the same saved evidence.</a:t>
            </a:r>
            <a:endParaRPr lang="en-US" sz="1450" dirty="0"/>
          </a:p>
        </p:txBody>
      </p:sp>
      <p:sp>
        <p:nvSpPr>
          <p:cNvPr id="24" name="Text 21"/>
          <p:cNvSpPr/>
          <p:nvPr/>
        </p:nvSpPr>
        <p:spPr>
          <a:xfrm>
            <a:off x="7269480" y="4071310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1F2937"/>
                </a:solidFill>
              </a:rPr>
              <a:t>That makes the final submission easier to defend during both the presentation and the code demo.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56032" y="100584"/>
            <a:ext cx="30175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FairEval / DTSC 5505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Limitations, future work, and final takeaways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02920" y="987552"/>
            <a:ext cx="11064240" cy="0"/>
          </a:xfrm>
          <a:prstGeom prst="line">
            <a:avLst/>
          </a:prstGeom>
          <a:noFill/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631168" y="6473952"/>
            <a:ext cx="2286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E6B7A"/>
                </a:solidFill>
              </a:rPr>
              <a:t>10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6419088"/>
            <a:ext cx="20116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8796"/>
                </a:solidFill>
              </a:rPr>
              <a:t>Abdul-Azeem Opakunle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85800" y="1325879"/>
            <a:ext cx="5410200" cy="4544559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14400" y="1600200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24D"/>
                </a:solidFill>
              </a:rPr>
              <a:t>Key limitations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1847088"/>
            <a:ext cx="4754880" cy="1783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Sensitive-attribute choices remain simplified and are not fully intersectional.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Agreement is computed over a limited set of datasets, model families, and threshold choices.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fairness benchmarks are informative, but they are not substitutes for deployment-specific audits.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Language branches such as CrowS-Pairs and BBQ capture only part of the broader social-harm landscape.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914400" y="3886198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24D"/>
                </a:solidFill>
              </a:rPr>
              <a:t>High-value next steps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4315968"/>
            <a:ext cx="475488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buSzPct val="100000"/>
              <a:buChar char="•"/>
            </a:pPr>
            <a:r>
              <a:rPr lang="en-US" sz="13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threshold sweeps and richer fairness–utility trade-off visualizations.</a:t>
            </a:r>
            <a:endParaRPr lang="en-US" sz="1380" dirty="0"/>
          </a:p>
          <a:p>
            <a:pPr marL="177800" indent="-177800">
              <a:buSzPct val="100000"/>
              <a:buChar char="•"/>
            </a:pPr>
            <a:r>
              <a:rPr lang="en-US" sz="13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Expose more fairness confidence intervals directly in the report and dashboard.</a:t>
            </a:r>
            <a:endParaRPr lang="en-US" sz="1380" dirty="0"/>
          </a:p>
          <a:p>
            <a:pPr marL="177800" indent="-177800">
              <a:buSzPct val="100000"/>
              <a:buChar char="•"/>
            </a:pPr>
            <a:r>
              <a:rPr lang="en-US" sz="13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Expand the fairness-judge rubric and compare against newer toolkits such as LangFair and FairBench.</a:t>
            </a:r>
            <a:endParaRPr lang="en-US" sz="1380" dirty="0"/>
          </a:p>
        </p:txBody>
      </p:sp>
      <p:sp>
        <p:nvSpPr>
          <p:cNvPr id="13" name="Shape 11"/>
          <p:cNvSpPr/>
          <p:nvPr/>
        </p:nvSpPr>
        <p:spPr>
          <a:xfrm>
            <a:off x="6355080" y="1325880"/>
            <a:ext cx="5148072" cy="3840480"/>
          </a:xfrm>
          <a:prstGeom prst="roundRect">
            <a:avLst>
              <a:gd name="adj" fmla="val 1429"/>
            </a:avLst>
          </a:prstGeom>
          <a:solidFill>
            <a:srgbClr val="EAF2F8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629400" y="1627632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7324D"/>
                </a:solidFill>
              </a:rPr>
              <a:t>Final takeaways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583680" y="1965960"/>
            <a:ext cx="4572000" cy="1691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 fairness as a structured multi-metric audit, not a single score.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corrected Adult rerun shows why reproducibility and code inspection matter.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Partial agreement among metrics is exactly why agreement analysis belongs in the workflow.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final package combines tabular benchmarking, cross-modal branches, saved artifacts, and a dashboard.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629400" y="4251960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2937"/>
                </a:solidFill>
              </a:rPr>
              <a:t>Thank you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629399" y="4590287"/>
            <a:ext cx="1845527" cy="3385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44E52"/>
                </a:solidFill>
              </a:rPr>
              <a:t>Questions?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9326880" y="434340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50" dirty="0">
                <a:solidFill>
                  <a:srgbClr val="1F2937"/>
                </a:solidFill>
              </a:rPr>
              <a:t>Abdul-Azeem Opakunle</a:t>
            </a:r>
            <a:endParaRPr lang="en-US" sz="1350" dirty="0"/>
          </a:p>
          <a:p>
            <a:pPr marL="0" indent="0" algn="r">
              <a:buNone/>
            </a:pPr>
            <a:r>
              <a:rPr lang="en-US" sz="1350" dirty="0">
                <a:solidFill>
                  <a:srgbClr val="1F2937"/>
                </a:solidFill>
              </a:rPr>
              <a:t>DTSC 5505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1195</Words>
  <Application>Microsoft Macintosh PowerPoint</Application>
  <PresentationFormat>Widescreen</PresentationFormat>
  <Paragraphs>199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FairEval: Do Fairness Benchmarks Agree?</dc:title>
  <dc:subject>FairEval final presentation</dc:subject>
  <dc:creator>OpenAI</dc:creator>
  <cp:lastModifiedBy>Boluwatife Opakunle</cp:lastModifiedBy>
  <cp:revision>5</cp:revision>
  <dcterms:created xsi:type="dcterms:W3CDTF">2026-04-17T03:34:03Z</dcterms:created>
  <dcterms:modified xsi:type="dcterms:W3CDTF">2026-04-20T21:01:55Z</dcterms:modified>
</cp:coreProperties>
</file>